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b29a889f-f04e-8705-2fcb-1d6cf33d4103}">
          <p14:sldIdLst>
            <p14:sldId id="256"/>
            <p14:sldId id="257"/>
            <p14:sldId id="258"/>
            <p14:sldId id="259"/>
            <p14:sldId id="260"/>
          </p14:sldIdLst>
        </p14:section>
        <p14:section name="先查歷史" id="{bdc753f3-9f3a-60bd-db52-eb75cdbeed2e}">
          <p14:sldIdLst>
            <p14:sldId id="261"/>
          </p14:sldIdLst>
        </p14:section>
        <p14:section name="示範資產與質借" id="{421971e5-a85e-8785-6329-f39d72cb9b24}">
          <p14:sldIdLst>
            <p14:sldId id="262"/>
            <p14:sldId id="263"/>
            <p14:sldId id="264"/>
          </p14:sldIdLst>
        </p14:section>
        <p14:section name="三種結局" id="{52fad8e4-eb49-a7c1-a900-093e9063863a}">
          <p14:sldIdLst>
            <p14:sldId id="265"/>
            <p14:sldId id="266"/>
            <p14:sldId id="267"/>
          </p14:sldIdLst>
        </p14:section>
        <p14:section name="低點加碼" id="{fcb90e4c-4691-5087-5507-9238079dc8d4}">
          <p14:sldIdLst>
            <p14:sldId id="268"/>
            <p14:sldId id="269"/>
            <p14:sldId id="270"/>
            <p14:sldId id="271"/>
          </p14:sldIdLst>
        </p14:section>
        <p14:section name="歷史回測" id="{6910a369-e77a-52f9-f9c9-a0de686e1b82}">
          <p14:sldIdLst>
            <p14:sldId id="272"/>
          </p14:sldIdLst>
        </p14:section>
        <p14:section name="收尾" id="{b746830e-0384-e427-418f-a42f5caca252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EEF1F7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EEF1F7"/>
                </a:solidFill>
                <a:latin typeface="+mn-lt"/>
              </a:rPr>
              <a:t>台股加權指數・高點到低點跌幅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跌幅</c:v>
                </c:pt>
              </c:strCache>
            </c:strRef>
          </c:tx>
          <c:spPr>
            <a:solidFill>
              <a:srgbClr val="E8B356"/>
            </a:solidFill>
            <a:effectLst/>
          </c:spPr>
          <c:invertIfNegative val="0"/>
          <c:dLbls>
            <c:numFmt formatCode="&quot;−&quot;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EF1F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B3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B35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2024 AI 與關稅・1.1 年回前高</c:v>
                  </c:pt>
                  <c:pt idx="1">
                    <c:v>2022 升息通膨・2.1 年回前高</c:v>
                  </c:pt>
                  <c:pt idx="2">
                    <c:v>2020 新冠疫情・0.5 年回前高</c:v>
                  </c:pt>
                  <c:pt idx="3">
                    <c:v>2008 金融海嘯・7.5 年回前高</c:v>
                  </c:pt>
                  <c:pt idx="4">
                    <c:v>2000 網路泡沫・17.3 年回前高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32</c:v>
                </c:pt>
                <c:pt idx="2">
                  <c:v>29</c:v>
                </c:pt>
                <c:pt idx="3">
                  <c:v>58</c:v>
                </c:pt>
                <c:pt idx="4">
                  <c:v>66</c:v>
                </c:pt>
              </c:numCache>
            </c:numRef>
          </c:val>
        </c:ser>
        <c:dLbls>
          <c:numFmt formatCode="&quot;−&quot;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EF1F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EF1F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EEF1F7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EEF1F7"/>
                </a:solidFill>
                <a:latin typeface="+mn-lt"/>
              </a:rPr>
              <a:t>美股 S&amp;P 500・高點到低點跌幅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跌幅</c:v>
                </c:pt>
              </c:strCache>
            </c:strRef>
          </c:tx>
          <c:spPr>
            <a:solidFill>
              <a:srgbClr val="E27D70"/>
            </a:solidFill>
            <a:effectLst/>
          </c:spPr>
          <c:invertIfNegative val="0"/>
          <c:dLbls>
            <c:numFmt formatCode="&quot;−&quot;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EF1F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2020 新冠疫情・0.5 年回前高</c:v>
                  </c:pt>
                  <c:pt idx="1">
                    <c:v>2009 金融海嘯・5.5 年回前高</c:v>
                  </c:pt>
                  <c:pt idx="2">
                    <c:v>2002 網路泡沫・7.2 年回前高</c:v>
                  </c:pt>
                  <c:pt idx="3">
                    <c:v>1987 黑色星期一・1.9 年回前高</c:v>
                  </c:pt>
                  <c:pt idx="4">
                    <c:v>1974 石油危機・7.5 年回前高</c:v>
                  </c:pt>
                  <c:pt idx="5">
                    <c:v>1970 通膨升息・3.3 年回前高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57</c:v>
                </c:pt>
                <c:pt idx="2">
                  <c:v>49</c:v>
                </c:pt>
                <c:pt idx="3">
                  <c:v>34</c:v>
                </c:pt>
                <c:pt idx="4">
                  <c:v>48</c:v>
                </c:pt>
                <c:pt idx="5">
                  <c:v>36</c:v>
                </c:pt>
              </c:numCache>
            </c:numRef>
          </c:val>
        </c:ser>
        <c:dLbls>
          <c:numFmt formatCode="&quot;−&quot;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EF1F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EF1F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B3C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8B3C9"/>
                </a:solidFill>
                <a:latin typeface="+mn-lt"/>
              </a:rPr>
              <a:t>指數回到前高時，比持有不動多保留多少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單筆：跌三成時一次買 300 萬</c:v>
                </c:pt>
              </c:strCache>
            </c:strRef>
          </c:tx>
          <c:spPr>
            <a:solidFill>
              <a:srgbClr val="A8B3C9"/>
            </a:solidFill>
            <a:effectLst/>
          </c:spPr>
          <c:invertIfNegative val="0"/>
          <c:dLbls>
            <c:numFmt formatCode="+#,##0&quot;萬&quot;;−#,##0&quot;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EF1F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台股 2022 升息通膨</c:v>
                  </c:pt>
                  <c:pt idx="1">
                    <c:v>台股 2008 金融海嘯</c:v>
                  </c:pt>
                  <c:pt idx="2">
                    <c:v>台股 2000 網路泡沫</c:v>
                  </c:pt>
                  <c:pt idx="3">
                    <c:v>台股 1997 亞洲金融風暴</c:v>
                  </c:pt>
                  <c:pt idx="4">
                    <c:v>美股 2020 新冠疫情</c:v>
                  </c:pt>
                  <c:pt idx="5">
                    <c:v>美股 2008 金融海嘯</c:v>
                  </c:pt>
                  <c:pt idx="6">
                    <c:v>美股 2000 網路泡沫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129</c:v>
                </c:pt>
                <c:pt idx="1">
                  <c:v>92</c:v>
                </c:pt>
                <c:pt idx="2">
                  <c:v>26</c:v>
                </c:pt>
                <c:pt idx="3">
                  <c:v>127</c:v>
                </c:pt>
                <c:pt idx="4">
                  <c:v>139</c:v>
                </c:pt>
                <c:pt idx="5">
                  <c:v>117</c:v>
                </c:pt>
                <c:pt idx="6">
                  <c:v>107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分批：等反彈確認，分 3 批</c:v>
                </c:pt>
              </c:strCache>
            </c:strRef>
          </c:tx>
          <c:spPr>
            <a:solidFill>
              <a:srgbClr val="D4AB62"/>
            </a:solidFill>
            <a:effectLst/>
          </c:spPr>
          <c:invertIfNegative val="0"/>
          <c:dLbls>
            <c:numFmt formatCode="+#,##0&quot;萬&quot;;−#,##0&quot;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EF1F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台股 2022 升息通膨</c:v>
                  </c:pt>
                  <c:pt idx="1">
                    <c:v>台股 2008 金融海嘯</c:v>
                  </c:pt>
                  <c:pt idx="2">
                    <c:v>台股 2000 網路泡沫</c:v>
                  </c:pt>
                  <c:pt idx="3">
                    <c:v>台股 1997 亞洲金融風暴</c:v>
                  </c:pt>
                  <c:pt idx="4">
                    <c:v>美股 2020 新冠疫情</c:v>
                  </c:pt>
                  <c:pt idx="5">
                    <c:v>美股 2008 金融海嘯</c:v>
                  </c:pt>
                  <c:pt idx="6">
                    <c:v>美股 2000 網路泡沫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25</c:v>
                </c:pt>
                <c:pt idx="1">
                  <c:v>248</c:v>
                </c:pt>
                <c:pt idx="2">
                  <c:v>167</c:v>
                </c:pt>
                <c:pt idx="3">
                  <c:v>134</c:v>
                </c:pt>
                <c:pt idx="4">
                  <c:v>28</c:v>
                </c:pt>
                <c:pt idx="5">
                  <c:v>208</c:v>
                </c:pt>
                <c:pt idx="6">
                  <c:v>143</c:v>
                </c:pt>
              </c:numCache>
            </c:numRef>
          </c:val>
        </c:ser>
        <c:dLbls>
          <c:numFmt formatCode="+#,##0&quot;萬&quot;;−#,##0&quot;萬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EEF1F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EF1F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EEF1F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開場：這份簡報把「股市大跌怎麼辦」這團霧，拆成有數字、有時間、有動作的三種結局，並說明亞灣投資質借在其中的角色。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5"/>
                </a:solidFill>
              </a:rPr>
              <a:t>STANDARD CHARTERED · 亞灣 PRIORITY PRIVATE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011680"/>
            <a:ext cx="103327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434340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91440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</a:rPr>
              <a:t>STANDARD CHARTERED · 亞灣 PRIORITY PRIVATE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spc="300" kern="0" dirty="0">
                <a:solidFill>
                  <a:schemeClr val="accent1"/>
                </a:solidFill>
              </a:rPr>
              <a:t>資產的下跌應對・資產還原版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01168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擔心不等於準備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把「跌 30%」寫成</a:t>
            </a:r>
            <a:pPr algn="l" indent="0" marL="0">
              <a:buNone/>
            </a:pPr>
            <a:r>
              <a:rPr lang="en-US" sz="4800" b="1" dirty="0">
                <a:solidFill>
                  <a:srgbClr val="D4AB62"/>
                </a:solidFill>
              </a:rPr>
              <a:t>三種結局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從一團霧，到一張寫好的行動方案。看渣打亞灣的投資質借，如何讓資產在大跌後更快還原。</a:t>
            </a:r>
            <a:endParaRPr lang="en-US" sz="1800" dirty="0"/>
          </a:p>
        </p:txBody>
      </p:sp>
      <p:sp>
        <p:nvSpPr>
          <p:cNvPr id="5" name="cover-ring"/>
          <p:cNvSpPr/>
          <p:nvPr/>
        </p:nvSpPr>
        <p:spPr>
          <a:xfrm>
            <a:off x="9509760" y="822960"/>
            <a:ext cx="2194560" cy="2194560"/>
          </a:xfrm>
          <a:prstGeom prst="ellipse">
            <a:avLst/>
          </a:prstGeom>
          <a:solidFill>
            <a:srgbClr val="D4AB62">
              <a:alpha val="12000"/>
            </a:srgbClr>
          </a:solidFill>
          <a:ln w="12700">
            <a:solidFill>
              <a:srgbClr val="D4AB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8229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D4AB62"/>
                </a:solidFill>
              </a:rPr>
              <a:t>3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半夜驚醒的念頭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2026 年 10 月 15 日，台股一天跌了 1,655 點（−3.41%）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B3C9"/>
                </a:solidFill>
              </a:rPr>
              <a:t>如果跌的是 30% 呢？偏偏在最不想賣股的時候，這些需要用錢的念頭會冒出來：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24028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404872"/>
            <a:ext cx="500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7"/>
                </a:solidFill>
              </a:rPr>
              <a:t>「股市如果大跌，我的退休資產怎麼辦？」</a:t>
            </a:r>
            <a:endParaRPr lang="en-US" sz="1900" dirty="0"/>
          </a:p>
        </p:txBody>
      </p:sp>
      <p:sp>
        <p:nvSpPr>
          <p:cNvPr id="7" name="card"/>
          <p:cNvSpPr/>
          <p:nvPr/>
        </p:nvSpPr>
        <p:spPr>
          <a:xfrm>
            <a:off x="6233008" y="224028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4176" y="2404872"/>
            <a:ext cx="500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7"/>
                </a:solidFill>
              </a:rPr>
              <a:t>「公司要增資，急需一大筆現金怎麼辦？」</a:t>
            </a:r>
            <a:endParaRPr lang="en-US" sz="1900" dirty="0"/>
          </a:p>
        </p:txBody>
      </p:sp>
      <p:sp>
        <p:nvSpPr>
          <p:cNvPr id="9" name="card"/>
          <p:cNvSpPr/>
          <p:nvPr/>
        </p:nvSpPr>
        <p:spPr>
          <a:xfrm>
            <a:off x="548640" y="333756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502152"/>
            <a:ext cx="500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7"/>
                </a:solidFill>
              </a:rPr>
              <a:t>「孩子買房要高額頭期款，錢從哪裡來？」</a:t>
            </a:r>
            <a:endParaRPr lang="en-US" sz="1900" dirty="0"/>
          </a:p>
        </p:txBody>
      </p:sp>
      <p:sp>
        <p:nvSpPr>
          <p:cNvPr id="11" name="card"/>
          <p:cNvSpPr/>
          <p:nvPr/>
        </p:nvSpPr>
        <p:spPr>
          <a:xfrm>
            <a:off x="6233008" y="333756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3502152"/>
            <a:ext cx="500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7"/>
                </a:solidFill>
              </a:rPr>
              <a:t>「想趁低點再加碼股市，資金從哪裡來？」</a:t>
            </a:r>
            <a:endParaRPr lang="en-US" sz="1900" dirty="0"/>
          </a:p>
        </p:txBody>
      </p:sp>
      <p:sp>
        <p:nvSpPr>
          <p:cNvPr id="13" name="note"/>
          <p:cNvSpPr/>
          <p:nvPr/>
        </p:nvSpPr>
        <p:spPr>
          <a:xfrm>
            <a:off x="548640" y="46177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6177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共同點：一冒出來就停不下來；但問自己「真的發生了會怎樣」，多半說不清楚。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把「跌 30%」具象化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跌 30% 長什麼樣子？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5410048" cy="1600200"/>
          </a:xfrm>
          <a:prstGeom prst="roundRect">
            <a:avLst>
              <a:gd name="adj" fmla="val 457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50077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台股指數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EEF1F7"/>
                </a:solidFill>
              </a:rPr>
              <a:t>49,823 → 約 34,900 點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從 2026/10/6 的高點算起，跌三成大約落在 34,900 點。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6233008" y="1645920"/>
            <a:ext cx="5410048" cy="1600200"/>
          </a:xfrm>
          <a:prstGeom prst="roundRect">
            <a:avLst>
              <a:gd name="adj" fmla="val 4571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34176" y="1810512"/>
            <a:ext cx="50077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其實只是回到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D4AB62"/>
                </a:solidFill>
              </a:rPr>
              <a:t>今年 2 月的位置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台股 2026 年 2 月底才第一次站上這個點位；美股跌三成，則是回到 2024 年 6 月。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548640" y="3474720"/>
            <a:ext cx="5410048" cy="1600200"/>
          </a:xfrm>
          <a:prstGeom prst="roundRect">
            <a:avLst>
              <a:gd name="adj" fmla="val 457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639312"/>
            <a:ext cx="50077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像 10 月 15 日那樣的大跌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EEF1F7"/>
                </a:solidFill>
              </a:rPr>
              <a:t>連續約 10 天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一天跌 3.41% 已經讓人睡不著；跌三成，大約是這樣的日子再來十次。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233008" y="3474720"/>
            <a:ext cx="5410048" cy="1600200"/>
          </a:xfrm>
          <a:prstGeom prst="roundRect">
            <a:avLst>
              <a:gd name="adj" fmla="val 457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4176" y="3639312"/>
            <a:ext cx="50077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落到您的帳戶上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EEF1F7"/>
                </a:solidFill>
              </a:rPr>
              <a:t>3,000 萬 → 2,100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帳面少了 900 萬；要再漲 43% 才回得來。</a:t>
            </a:r>
            <a:endParaRPr lang="en-US" sz="1300" dirty="0"/>
          </a:p>
        </p:txBody>
      </p:sp>
      <p:sp>
        <p:nvSpPr>
          <p:cNvPr id="12" name="note"/>
          <p:cNvSpPr/>
          <p:nvPr/>
        </p:nvSpPr>
        <p:spPr>
          <a:xfrm>
            <a:off x="548640" y="544068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4406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聽起來嚇人，但換個角度看：跌三成，台股只是把今年 2 月以後漲的吐回去。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擔心的真相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那個擔心是一團霧，沒辦法處理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D4AB6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91640"/>
            <a:ext cx="10408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EF1F7"/>
                </a:solidFill>
              </a:rPr>
              <a:t>在心裡反覆處理一件「還沒確定、而且可能變壞」的未來。</a:t>
            </a:r>
            <a:endParaRPr lang="en-US" sz="21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美國社會科學家 Arthur Brooks 在《The Happiness Files》中對擔心的定義</a:t>
            </a:r>
            <a:endParaRPr lang="en-US" sz="2100" dirty="0"/>
          </a:p>
        </p:txBody>
      </p:sp>
      <p:sp>
        <p:nvSpPr>
          <p:cNvPr id="6" name="card"/>
          <p:cNvSpPr/>
          <p:nvPr/>
        </p:nvSpPr>
        <p:spPr>
          <a:xfrm>
            <a:off x="548640" y="2834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999232"/>
            <a:ext cx="311292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1F7"/>
                </a:solidFill>
              </a:rPr>
              <a:t>沒有數字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跌 30%，帳面會少多少錢？不知道。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4338218" y="2834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9386" y="2999232"/>
            <a:ext cx="311292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1F7"/>
                </a:solidFill>
              </a:rPr>
              <a:t>沒有時間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會跌多久？多久回來？不知道。</a:t>
            </a:r>
            <a:endParaRPr lang="en-US" sz="2000" dirty="0"/>
          </a:p>
        </p:txBody>
      </p:sp>
      <p:sp>
        <p:nvSpPr>
          <p:cNvPr id="10" name="card"/>
          <p:cNvSpPr/>
          <p:nvPr/>
        </p:nvSpPr>
        <p:spPr>
          <a:xfrm>
            <a:off x="8127797" y="2834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8965" y="2999232"/>
            <a:ext cx="311292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1F7"/>
                </a:solidFill>
              </a:rPr>
              <a:t>沒有「然後呢」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跌了之後要做什麼？不知道。</a:t>
            </a:r>
            <a:endParaRPr lang="en-US" sz="2000" dirty="0"/>
          </a:p>
        </p:txBody>
      </p:sp>
      <p:sp>
        <p:nvSpPr>
          <p:cNvPr id="12" name="note"/>
          <p:cNvSpPr/>
          <p:nvPr/>
        </p:nvSpPr>
        <p:spPr>
          <a:xfrm>
            <a:off x="548640" y="45720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57200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擔心一團霧是沒用的，除非把它變成一個具體的問題。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拆解方法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先查歷史，再走四個步驟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B3C9"/>
                </a:solidFill>
              </a:rPr>
              <a:t>我們用「股市大跌」當例子，因為它最有數字，也最好示範。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28600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450592"/>
            <a:ext cx="216552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tep-num"/>
          <p:cNvSpPr/>
          <p:nvPr/>
        </p:nvSpPr>
        <p:spPr>
          <a:xfrm>
            <a:off x="749808" y="2514600"/>
            <a:ext cx="640080" cy="640080"/>
          </a:xfrm>
          <a:prstGeom prst="ellipse">
            <a:avLst/>
          </a:prstGeom>
          <a:solidFill>
            <a:srgbClr val="D4AB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347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337560"/>
            <a:ext cx="2165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B62"/>
                </a:solidFill>
              </a:rPr>
              <a:t>步驟一</a:t>
            </a:r>
            <a:endParaRPr lang="en-US" sz="12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EF1F7"/>
                </a:solidFill>
              </a:rPr>
              <a:t>換成數字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帳面少多少？多久能還原？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390824" y="228600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1992" y="2450592"/>
            <a:ext cx="216552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tep-num"/>
          <p:cNvSpPr/>
          <p:nvPr/>
        </p:nvSpPr>
        <p:spPr>
          <a:xfrm>
            <a:off x="3591992" y="2514600"/>
            <a:ext cx="640080" cy="640080"/>
          </a:xfrm>
          <a:prstGeom prst="ellipse">
            <a:avLst/>
          </a:prstGeom>
          <a:solidFill>
            <a:srgbClr val="D4AB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91992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347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591992" y="3337560"/>
            <a:ext cx="2165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B62"/>
                </a:solidFill>
              </a:rPr>
              <a:t>步驟二</a:t>
            </a:r>
            <a:endParaRPr lang="en-US" sz="12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EF1F7"/>
                </a:solidFill>
              </a:rPr>
              <a:t>寫三種結局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最好、最可能、最壞，各配一個動作。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233008" y="228600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4176" y="2450592"/>
            <a:ext cx="216552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tep-num"/>
          <p:cNvSpPr/>
          <p:nvPr/>
        </p:nvSpPr>
        <p:spPr>
          <a:xfrm>
            <a:off x="6434176" y="2514600"/>
            <a:ext cx="640080" cy="640080"/>
          </a:xfrm>
          <a:prstGeom prst="ellipse">
            <a:avLst/>
          </a:prstGeom>
          <a:solidFill>
            <a:srgbClr val="D4AB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3417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347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34176" y="3337560"/>
            <a:ext cx="2165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B62"/>
                </a:solidFill>
              </a:rPr>
              <a:t>步驟三</a:t>
            </a:r>
            <a:endParaRPr lang="en-US" sz="12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EF1F7"/>
                </a:solidFill>
              </a:rPr>
              <a:t>算到底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直視最壞的情況，找到地板在哪。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9075191" y="228600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76359" y="2450592"/>
            <a:ext cx="216552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tep-num"/>
          <p:cNvSpPr/>
          <p:nvPr/>
        </p:nvSpPr>
        <p:spPr>
          <a:xfrm>
            <a:off x="9276359" y="2514600"/>
            <a:ext cx="640080" cy="640080"/>
          </a:xfrm>
          <a:prstGeom prst="ellipse">
            <a:avLst/>
          </a:prstGeom>
          <a:solidFill>
            <a:srgbClr val="F6F0E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76359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347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276359" y="3337560"/>
            <a:ext cx="2165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B62"/>
                </a:solidFill>
              </a:rPr>
              <a:t>步驟四</a:t>
            </a:r>
            <a:endParaRPr lang="en-US" sz="12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EF1F7"/>
                </a:solidFill>
              </a:rPr>
              <a:t>寫好就放下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下次大跌，打開這張紙，不是看盤 App。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先查歷史・大跌多久來一次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台股 1999 年至今 3 次，美股 1950 年至今 6 次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406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645920"/>
          <a:ext cx="54406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note"/>
          <p:cNvSpPr/>
          <p:nvPr/>
        </p:nvSpPr>
        <p:spPr>
          <a:xfrm>
            <a:off x="548640" y="52120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2120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大跌不是每年都有，但退休後的三十年裡，很可能遇到兩、三次。這是一定會發生的事。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5216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以收盤價計之高點至低點約略跌幅；年份為低點所在年。「回前高」為從前一個高點算起，指數收盤再次站上該高點所花的時間，未含股息。1990 年以前美股引自公開資料，其餘由資料庫每日收盤計算。紅色為跌逾 30%，橘色為接近但未達 30%。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步驟一・把霧換成數字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這一版只看一件事：資產多久能還原？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01952"/>
            <a:ext cx="311292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投資部位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400" b="1" dirty="0">
                <a:solidFill>
                  <a:srgbClr val="EEF1F7"/>
                </a:solidFill>
              </a:rPr>
              <a:t>3,000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股票型資產，可作為質借擔保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338218" y="173736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39386" y="1901952"/>
            <a:ext cx="311292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大跌三成後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400" b="1" dirty="0">
                <a:solidFill>
                  <a:srgbClr val="EEF1F7"/>
                </a:solidFill>
              </a:rPr>
              <a:t>2,100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帳面少了 900 萬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8127797" y="173736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8965" y="1901952"/>
            <a:ext cx="311292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要漲多少才回得來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400" b="1" dirty="0">
                <a:solidFill>
                  <a:srgbClr val="D4AB62"/>
                </a:solidFill>
              </a:rPr>
              <a:t>＋43%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2,100 萬 × 1.43 ≈ 3,000 萬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B3C9"/>
                </a:solidFill>
              </a:rPr>
              <a:t>不看生活費、不提領，單純比較：低點賣掉、持有不動、用質借在低點加碼，三種做法讓 3,000 萬回來的速度。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8932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此組數字僅為示範算法，不是建議的配置比例。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步驟一・帳面虧損 vs 真的虧損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賣掉才是真的虧；不賣，就只是時間問題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5410048" cy="2651760"/>
          </a:xfrm>
          <a:prstGeom prst="roundRect">
            <a:avLst>
              <a:gd name="adj" fmla="val 275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01952"/>
            <a:ext cx="500771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跌三成時全部賣掉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800" b="1" dirty="0">
                <a:solidFill>
                  <a:srgbClr val="E27D70"/>
                </a:solidFill>
              </a:rPr>
              <a:t>停在 2,100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換成現金後，就算市場回到前高、甚至翻倍，帳戶都回不來了。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6233008" y="1737360"/>
            <a:ext cx="5410048" cy="2651760"/>
          </a:xfrm>
          <a:prstGeom prst="roundRect">
            <a:avLst>
              <a:gd name="adj" fmla="val 2759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34176" y="1901952"/>
            <a:ext cx="500771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持有不動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000" b="1" dirty="0">
                <a:solidFill>
                  <a:srgbClr val="D4AB62"/>
                </a:solidFill>
              </a:rPr>
              <a:t>回到前高就還原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歷史上快則半年（2020 年），慢則 17 年（2000 年台股）。</a:t>
            </a:r>
            <a:endParaRPr lang="en-US" sz="1300" dirty="0"/>
          </a:p>
        </p:txBody>
      </p:sp>
      <p:sp>
        <p:nvSpPr>
          <p:cNvPr id="8" name="note"/>
          <p:cNvSpPr/>
          <p:nvPr/>
        </p:nvSpPr>
        <p:spPr>
          <a:xfrm>
            <a:off x="548640" y="466344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6634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亞灣質借加碼要做的，是讓「還原」的時間再縮短，而且不必賣掉任何一張股票。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亞灣的角色・投資質借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不賣股票，用股票借錢在低點加碼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56232"/>
            <a:ext cx="19293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大跌後擔保品市值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EEF1F7"/>
                </a:solidFill>
              </a:rPr>
              <a:t>2,100 萬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691640"/>
            <a:ext cx="589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4AB62"/>
                </a:solidFill>
              </a:rPr>
              <a:t>×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3469538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0706" y="1856232"/>
            <a:ext cx="19293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股票成數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EEF1F7"/>
                </a:solidFill>
              </a:rPr>
              <a:t>60%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01258" y="1691640"/>
            <a:ext cx="589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4AB62"/>
                </a:solidFill>
              </a:rPr>
              <a:t>=</a:t>
            </a:r>
            <a:endParaRPr lang="en-US" sz="2600" dirty="0"/>
          </a:p>
        </p:txBody>
      </p:sp>
      <p:sp>
        <p:nvSpPr>
          <p:cNvPr id="10" name="card"/>
          <p:cNvSpPr/>
          <p:nvPr/>
        </p:nvSpPr>
        <p:spPr>
          <a:xfrm>
            <a:off x="6390437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1605" y="1856232"/>
            <a:ext cx="19293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可質借額度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EEF1F7"/>
                </a:solidFill>
              </a:rPr>
              <a:t>1,260 萬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722157" y="1691640"/>
            <a:ext cx="589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4AB62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card"/>
          <p:cNvSpPr/>
          <p:nvPr/>
        </p:nvSpPr>
        <p:spPr>
          <a:xfrm>
            <a:off x="9311335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12503" y="1856232"/>
            <a:ext cx="19293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加碼只用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D4AB62"/>
                </a:solidFill>
              </a:rPr>
              <a:t>300 萬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20040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364992"/>
            <a:ext cx="311292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不賣股票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3,000 萬部位全數留在場上，市場回升時完整參與。</a:t>
            </a:r>
            <a:endParaRPr lang="en-US" sz="1700" dirty="0"/>
          </a:p>
        </p:txBody>
      </p:sp>
      <p:sp>
        <p:nvSpPr>
          <p:cNvPr id="17" name="card"/>
          <p:cNvSpPr/>
          <p:nvPr/>
        </p:nvSpPr>
        <p:spPr>
          <a:xfrm>
            <a:off x="4338218" y="320040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9386" y="3364992"/>
            <a:ext cx="311292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只借加碼的錢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每批 100 萬、最多 300 萬，約可借額度的四分之一；只付這部分的利息。</a:t>
            </a:r>
            <a:endParaRPr lang="en-US" sz="1700" dirty="0"/>
          </a:p>
        </p:txBody>
      </p:sp>
      <p:sp>
        <p:nvSpPr>
          <p:cNvPr id="19" name="card"/>
          <p:cNvSpPr/>
          <p:nvPr/>
        </p:nvSpPr>
        <p:spPr>
          <a:xfrm>
            <a:off x="8127797" y="320040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8965" y="3364992"/>
            <a:ext cx="311292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回到前高才還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加碼部位賺完整段回升，指數回到前高時，再賣一部分還清借款。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5780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成數依資產類別而定：股票 60%、基金 80%、債券 70%、結構型商品 50%；利率以 2% 示範，均以銀行實際核定為準。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步驟二・寫出三種結局，每一種配一個動作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不管哪一種，都有寫好的下一步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3515258" cy="4343400"/>
          </a:xfrm>
          <a:prstGeom prst="roundRect">
            <a:avLst>
              <a:gd name="adj" fmla="val 208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3112922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C79C"/>
                </a:solidFill>
              </a:rPr>
              <a:t>最好的結局</a:t>
            </a:r>
            <a:endParaRPr lang="en-US" sz="13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EF1F7"/>
                </a:solidFill>
              </a:rPr>
              <a:t>半年回到前高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如 2020 年美股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B62"/>
                </a:solidFill>
              </a:rPr>
              <a:t>動作：</a:t>
            </a:r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</a:rPr>
              <a:t>不賣股；反彈時用質借買第一批。</a:t>
            </a:r>
            <a:endParaRPr lang="en-US" sz="1300" dirty="0"/>
          </a:p>
        </p:txBody>
      </p:sp>
      <p:sp>
        <p:nvSpPr>
          <p:cNvPr id="8" name="divider"/>
          <p:cNvSpPr/>
          <p:nvPr/>
        </p:nvSpPr>
        <p:spPr>
          <a:xfrm>
            <a:off x="777240" y="3456432"/>
            <a:ext cx="3058058" cy="0"/>
          </a:xfrm>
          <a:prstGeom prst="line">
            <a:avLst/>
          </a:prstGeom>
          <a:noFill/>
          <a:ln w="12700">
            <a:solidFill>
              <a:srgbClr val="2A4273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777240" y="3547872"/>
            <a:ext cx="310896" cy="310896"/>
          </a:xfrm>
          <a:prstGeom prst="ellipse">
            <a:avLst/>
          </a:prstGeom>
          <a:solidFill>
            <a:srgbClr val="E27D70"/>
          </a:solidFill>
          <a:ln/>
        </p:spPr>
      </p:sp>
      <p:pic>
        <p:nvPicPr>
          <p:cNvPr id="10" name="Image 0" descr="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61188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3547872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2020/2–3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一個月跌掉三成多</a:t>
            </a:r>
            <a:endParaRPr lang="en-US" sz="1200" dirty="0"/>
          </a:p>
        </p:txBody>
      </p:sp>
      <p:sp>
        <p:nvSpPr>
          <p:cNvPr id="12" name="icon-bg"/>
          <p:cNvSpPr/>
          <p:nvPr/>
        </p:nvSpPr>
        <p:spPr>
          <a:xfrm>
            <a:off x="777240" y="3886200"/>
            <a:ext cx="310896" cy="310896"/>
          </a:xfrm>
          <a:prstGeom prst="ellipse">
            <a:avLst/>
          </a:prstGeom>
          <a:solidFill>
            <a:srgbClr val="D4AB62"/>
          </a:solidFill>
          <a:ln/>
        </p:spPr>
      </p:sp>
      <p:pic>
        <p:nvPicPr>
          <p:cNvPr id="13" name="Image 1" descr="lo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95020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388620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2020/3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反彈一成五，買第 1 批</a:t>
            </a:r>
            <a:endParaRPr lang="en-US" sz="1200" dirty="0"/>
          </a:p>
        </p:txBody>
      </p:sp>
      <p:sp>
        <p:nvSpPr>
          <p:cNvPr id="15" name="icon-bg"/>
          <p:cNvSpPr/>
          <p:nvPr/>
        </p:nvSpPr>
        <p:spPr>
          <a:xfrm>
            <a:off x="777240" y="4224528"/>
            <a:ext cx="310896" cy="310896"/>
          </a:xfrm>
          <a:prstGeom prst="ellipse">
            <a:avLst/>
          </a:prstGeom>
          <a:solidFill>
            <a:srgbClr val="6CC79C"/>
          </a:solidFill>
          <a:ln/>
        </p:spPr>
      </p:sp>
      <p:pic>
        <p:nvPicPr>
          <p:cNvPr id="16" name="Image 2" descr="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28853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4224528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2020/8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回到前高，資產還原</a:t>
            </a:r>
            <a:endParaRPr lang="en-US" sz="1200" dirty="0"/>
          </a:p>
        </p:txBody>
      </p:sp>
      <p:sp>
        <p:nvSpPr>
          <p:cNvPr id="18" name="calc"/>
          <p:cNvSpPr/>
          <p:nvPr/>
        </p:nvSpPr>
        <p:spPr>
          <a:xfrm>
            <a:off x="777240" y="4937760"/>
            <a:ext cx="3058058" cy="932688"/>
          </a:xfrm>
          <a:prstGeom prst="roundRect">
            <a:avLst>
              <a:gd name="adj" fmla="val 5882"/>
            </a:avLst>
          </a:prstGeom>
          <a:solidFill>
            <a:srgbClr val="0F2347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86968" y="4937760"/>
            <a:ext cx="283860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B62"/>
                </a:solidFill>
              </a:rPr>
              <a:t>多久回到 3,000 萬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不動、分批都約半年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4AB62"/>
                </a:solidFill>
              </a:rPr>
              <a:t>指數回到前高那天，分批加碼的帳戶有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3,031 萬</a:t>
            </a:r>
            <a:endParaRPr lang="en-US" sz="1150" dirty="0"/>
          </a:p>
        </p:txBody>
      </p:sp>
      <p:sp>
        <p:nvSpPr>
          <p:cNvPr id="20" name="card"/>
          <p:cNvSpPr/>
          <p:nvPr/>
        </p:nvSpPr>
        <p:spPr>
          <a:xfrm>
            <a:off x="4338218" y="1645920"/>
            <a:ext cx="3515258" cy="4343400"/>
          </a:xfrm>
          <a:prstGeom prst="roundRect">
            <a:avLst>
              <a:gd name="adj" fmla="val 208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539386" y="1810512"/>
            <a:ext cx="3112922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 txBox="1"/>
          <p:nvPr/>
        </p:nvSpPr>
        <p:spPr>
          <a:xfrm>
            <a:off x="4566818" y="178308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356"/>
                </a:solidFill>
              </a:rPr>
              <a:t>最可能的結局</a:t>
            </a:r>
            <a:endParaRPr lang="en-US" sz="13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EF1F7"/>
                </a:solidFill>
              </a:rPr>
              <a:t>五到六年回到前高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如 2008 年美股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566818" y="26974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B62"/>
                </a:solidFill>
              </a:rPr>
              <a:t>動作：</a:t>
            </a:r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</a:rPr>
              <a:t>不賣股；分 3 批在低點加碼，回到前高還清。</a:t>
            </a:r>
            <a:endParaRPr lang="en-US" sz="1300" dirty="0"/>
          </a:p>
        </p:txBody>
      </p:sp>
      <p:sp>
        <p:nvSpPr>
          <p:cNvPr id="24" name="divider"/>
          <p:cNvSpPr/>
          <p:nvPr/>
        </p:nvSpPr>
        <p:spPr>
          <a:xfrm>
            <a:off x="4566818" y="3456432"/>
            <a:ext cx="3058058" cy="0"/>
          </a:xfrm>
          <a:prstGeom prst="line">
            <a:avLst/>
          </a:prstGeom>
          <a:noFill/>
          <a:ln w="12700">
            <a:solidFill>
              <a:srgbClr val="2A4273"/>
            </a:solidFill>
            <a:prstDash val="solid"/>
          </a:ln>
        </p:spPr>
      </p:sp>
      <p:sp>
        <p:nvSpPr>
          <p:cNvPr id="25" name="icon-bg"/>
          <p:cNvSpPr/>
          <p:nvPr/>
        </p:nvSpPr>
        <p:spPr>
          <a:xfrm>
            <a:off x="4566818" y="3547872"/>
            <a:ext cx="310896" cy="310896"/>
          </a:xfrm>
          <a:prstGeom prst="ellipse">
            <a:avLst/>
          </a:prstGeom>
          <a:solidFill>
            <a:srgbClr val="E27D70"/>
          </a:solidFill>
          <a:ln/>
        </p:spPr>
      </p:sp>
      <p:pic>
        <p:nvPicPr>
          <p:cNvPr id="26" name="Image 3" descr="d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826" y="3611880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978298" y="3547872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2007/10–09/3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跌掉近六成</a:t>
            </a:r>
            <a:endParaRPr lang="en-US" sz="1200" dirty="0"/>
          </a:p>
        </p:txBody>
      </p:sp>
      <p:sp>
        <p:nvSpPr>
          <p:cNvPr id="28" name="icon-bg"/>
          <p:cNvSpPr/>
          <p:nvPr/>
        </p:nvSpPr>
        <p:spPr>
          <a:xfrm>
            <a:off x="4566818" y="3886200"/>
            <a:ext cx="310896" cy="310896"/>
          </a:xfrm>
          <a:prstGeom prst="ellipse">
            <a:avLst/>
          </a:prstGeom>
          <a:solidFill>
            <a:srgbClr val="D4AB62"/>
          </a:solidFill>
          <a:ln/>
        </p:spPr>
      </p:sp>
      <p:pic>
        <p:nvPicPr>
          <p:cNvPr id="29" name="Image 4" descr="lo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826" y="3950208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978298" y="388620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2008/11–09/3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分 3 批買 300 萬</a:t>
            </a:r>
            <a:endParaRPr lang="en-US" sz="1200" dirty="0"/>
          </a:p>
        </p:txBody>
      </p:sp>
      <p:sp>
        <p:nvSpPr>
          <p:cNvPr id="31" name="icon-bg"/>
          <p:cNvSpPr/>
          <p:nvPr/>
        </p:nvSpPr>
        <p:spPr>
          <a:xfrm>
            <a:off x="4566818" y="4224528"/>
            <a:ext cx="310896" cy="310896"/>
          </a:xfrm>
          <a:prstGeom prst="ellipse">
            <a:avLst/>
          </a:prstGeom>
          <a:solidFill>
            <a:srgbClr val="6CC79C"/>
          </a:solidFill>
          <a:ln/>
        </p:spPr>
      </p:sp>
      <p:pic>
        <p:nvPicPr>
          <p:cNvPr id="32" name="Image 5" descr="d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826" y="4288536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978298" y="4224528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2013/1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資產先回到 3,000 萬</a:t>
            </a:r>
            <a:endParaRPr lang="en-US" sz="1200" dirty="0"/>
          </a:p>
        </p:txBody>
      </p:sp>
      <p:sp>
        <p:nvSpPr>
          <p:cNvPr id="34" name="icon-bg"/>
          <p:cNvSpPr/>
          <p:nvPr/>
        </p:nvSpPr>
        <p:spPr>
          <a:xfrm>
            <a:off x="4566818" y="4562856"/>
            <a:ext cx="310896" cy="310896"/>
          </a:xfrm>
          <a:prstGeom prst="ellipse">
            <a:avLst/>
          </a:prstGeom>
          <a:solidFill>
            <a:srgbClr val="6CC79C"/>
          </a:solidFill>
          <a:ln/>
        </p:spPr>
      </p:sp>
      <p:pic>
        <p:nvPicPr>
          <p:cNvPr id="35" name="Image 6" descr="u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0826" y="4626864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978298" y="4562856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2013/3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指數回前高，還清借款</a:t>
            </a:r>
            <a:endParaRPr lang="en-US" sz="1200" dirty="0"/>
          </a:p>
        </p:txBody>
      </p:sp>
      <p:sp>
        <p:nvSpPr>
          <p:cNvPr id="37" name="calc"/>
          <p:cNvSpPr/>
          <p:nvPr/>
        </p:nvSpPr>
        <p:spPr>
          <a:xfrm>
            <a:off x="4566818" y="4937760"/>
            <a:ext cx="3058058" cy="932688"/>
          </a:xfrm>
          <a:prstGeom prst="roundRect">
            <a:avLst>
              <a:gd name="adj" fmla="val 5882"/>
            </a:avLst>
          </a:prstGeom>
          <a:solidFill>
            <a:srgbClr val="0F2347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4676546" y="4937760"/>
            <a:ext cx="283860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B62"/>
                </a:solidFill>
              </a:rPr>
              <a:t>多久回到 3,000 萬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不動 5.5 年｜分批 5.3 年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4AB62"/>
                </a:solidFill>
              </a:rPr>
              <a:t>指數回到前高那天，分批加碼的帳戶有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3,216 萬</a:t>
            </a:r>
            <a:endParaRPr lang="en-US" sz="1150" dirty="0"/>
          </a:p>
        </p:txBody>
      </p:sp>
      <p:sp>
        <p:nvSpPr>
          <p:cNvPr id="39" name="card"/>
          <p:cNvSpPr/>
          <p:nvPr/>
        </p:nvSpPr>
        <p:spPr>
          <a:xfrm>
            <a:off x="8127797" y="1645920"/>
            <a:ext cx="3515258" cy="4343400"/>
          </a:xfrm>
          <a:prstGeom prst="roundRect">
            <a:avLst>
              <a:gd name="adj" fmla="val 208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8328965" y="1810512"/>
            <a:ext cx="3112922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2"/>
          <p:cNvSpPr txBox="1"/>
          <p:nvPr/>
        </p:nvSpPr>
        <p:spPr>
          <a:xfrm>
            <a:off x="8356397" y="178308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7D70"/>
                </a:solidFill>
              </a:rPr>
              <a:t>最壞的結局</a:t>
            </a:r>
            <a:endParaRPr lang="en-US" sz="13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EF1F7"/>
                </a:solidFill>
              </a:rPr>
              <a:t>十年以上才回到前高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如 2000 年台股：17 年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8356397" y="269748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B62"/>
                </a:solidFill>
              </a:rPr>
              <a:t>動作：</a:t>
            </a:r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</a:rPr>
              <a:t>不賣股；分 3 批加碼，資產比指數早約 10 年還原。</a:t>
            </a:r>
            <a:endParaRPr lang="en-US" sz="1300" dirty="0"/>
          </a:p>
        </p:txBody>
      </p:sp>
      <p:sp>
        <p:nvSpPr>
          <p:cNvPr id="43" name="divider"/>
          <p:cNvSpPr/>
          <p:nvPr/>
        </p:nvSpPr>
        <p:spPr>
          <a:xfrm>
            <a:off x="8356397" y="3456432"/>
            <a:ext cx="3058058" cy="0"/>
          </a:xfrm>
          <a:prstGeom prst="line">
            <a:avLst/>
          </a:prstGeom>
          <a:noFill/>
          <a:ln w="12700">
            <a:solidFill>
              <a:srgbClr val="2A4273"/>
            </a:solidFill>
            <a:prstDash val="solid"/>
          </a:ln>
        </p:spPr>
      </p:sp>
      <p:sp>
        <p:nvSpPr>
          <p:cNvPr id="44" name="icon-bg"/>
          <p:cNvSpPr/>
          <p:nvPr/>
        </p:nvSpPr>
        <p:spPr>
          <a:xfrm>
            <a:off x="8356397" y="3547872"/>
            <a:ext cx="310896" cy="310896"/>
          </a:xfrm>
          <a:prstGeom prst="ellipse">
            <a:avLst/>
          </a:prstGeom>
          <a:solidFill>
            <a:srgbClr val="E27D70"/>
          </a:solidFill>
          <a:ln/>
        </p:spPr>
      </p:sp>
      <p:pic>
        <p:nvPicPr>
          <p:cNvPr id="45" name="Image 7" descr="dow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405" y="3611880"/>
            <a:ext cx="182880" cy="18288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8767877" y="3547872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2000/2–01/9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跌掉三分之二</a:t>
            </a:r>
            <a:endParaRPr lang="en-US" sz="1200" dirty="0"/>
          </a:p>
        </p:txBody>
      </p:sp>
      <p:sp>
        <p:nvSpPr>
          <p:cNvPr id="47" name="icon-bg"/>
          <p:cNvSpPr/>
          <p:nvPr/>
        </p:nvSpPr>
        <p:spPr>
          <a:xfrm>
            <a:off x="8356397" y="3886200"/>
            <a:ext cx="310896" cy="310896"/>
          </a:xfrm>
          <a:prstGeom prst="ellipse">
            <a:avLst/>
          </a:prstGeom>
          <a:solidFill>
            <a:srgbClr val="D4AB62"/>
          </a:solidFill>
          <a:ln/>
        </p:spPr>
      </p:sp>
      <p:pic>
        <p:nvPicPr>
          <p:cNvPr id="48" name="Image 8" descr="loa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0405" y="3950208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8767877" y="3886200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2000/10–01/8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分 3 批買 300 萬</a:t>
            </a:r>
            <a:endParaRPr lang="en-US" sz="1200" dirty="0"/>
          </a:p>
        </p:txBody>
      </p:sp>
      <p:sp>
        <p:nvSpPr>
          <p:cNvPr id="50" name="icon-bg"/>
          <p:cNvSpPr/>
          <p:nvPr/>
        </p:nvSpPr>
        <p:spPr>
          <a:xfrm>
            <a:off x="8356397" y="4224528"/>
            <a:ext cx="310896" cy="310896"/>
          </a:xfrm>
          <a:prstGeom prst="ellipse">
            <a:avLst/>
          </a:prstGeom>
          <a:solidFill>
            <a:srgbClr val="6CC79C"/>
          </a:solidFill>
          <a:ln/>
        </p:spPr>
      </p:sp>
      <p:pic>
        <p:nvPicPr>
          <p:cNvPr id="51" name="Image 9" descr="don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0405" y="4288536"/>
            <a:ext cx="182880" cy="182880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8767877" y="4224528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2007/7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資產先回到 3,000 萬</a:t>
            </a:r>
            <a:endParaRPr lang="en-US" sz="1200" dirty="0"/>
          </a:p>
        </p:txBody>
      </p:sp>
      <p:sp>
        <p:nvSpPr>
          <p:cNvPr id="53" name="icon-bg"/>
          <p:cNvSpPr/>
          <p:nvPr/>
        </p:nvSpPr>
        <p:spPr>
          <a:xfrm>
            <a:off x="8356397" y="4562856"/>
            <a:ext cx="310896" cy="310896"/>
          </a:xfrm>
          <a:prstGeom prst="ellipse">
            <a:avLst/>
          </a:prstGeom>
          <a:solidFill>
            <a:srgbClr val="6CC79C"/>
          </a:solidFill>
          <a:ln/>
        </p:spPr>
      </p:sp>
      <p:pic>
        <p:nvPicPr>
          <p:cNvPr id="54" name="Image 10" descr="up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0405" y="4626864"/>
            <a:ext cx="182880" cy="182880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8767877" y="4562856"/>
            <a:ext cx="2646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2017/6　</a:t>
            </a:r>
            <a:pPr indent="0" marL="0">
              <a:buNone/>
            </a:pPr>
            <a:r>
              <a:rPr lang="en-US" sz="1200" dirty="0">
                <a:solidFill>
                  <a:srgbClr val="A8B3C9"/>
                </a:solidFill>
              </a:rPr>
              <a:t>指數才回到前高</a:t>
            </a:r>
            <a:endParaRPr lang="en-US" sz="1200" dirty="0"/>
          </a:p>
        </p:txBody>
      </p:sp>
      <p:sp>
        <p:nvSpPr>
          <p:cNvPr id="56" name="calc"/>
          <p:cNvSpPr/>
          <p:nvPr/>
        </p:nvSpPr>
        <p:spPr>
          <a:xfrm>
            <a:off x="8356397" y="4937760"/>
            <a:ext cx="3058058" cy="932688"/>
          </a:xfrm>
          <a:prstGeom prst="roundRect">
            <a:avLst>
              <a:gd name="adj" fmla="val 5882"/>
            </a:avLst>
          </a:prstGeom>
          <a:solidFill>
            <a:srgbClr val="0F2347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7" name="Text 44"/>
          <p:cNvSpPr txBox="1"/>
          <p:nvPr/>
        </p:nvSpPr>
        <p:spPr>
          <a:xfrm>
            <a:off x="8466125" y="4937760"/>
            <a:ext cx="283860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B62"/>
                </a:solidFill>
              </a:rPr>
              <a:t>多久回到 3,000 萬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不動 17.3 年｜分批 7.4 年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4AB62"/>
                </a:solidFill>
              </a:rPr>
              <a:t>指數回到前高那天，分批加碼的帳戶有</a:t>
            </a:r>
            <a:endParaRPr lang="en-US" sz="1150" dirty="0"/>
          </a:p>
          <a:p>
            <a:pPr indent="0" marL="0">
              <a:buNone/>
            </a:pPr>
            <a:r>
              <a:rPr lang="en-US" sz="1200" b="1" dirty="0">
                <a:solidFill>
                  <a:srgbClr val="EEF1F7"/>
                </a:solidFill>
              </a:rPr>
              <a:t>3,174 萬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步驟三・數字怎麼算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以 2008 年美股為例，逐筆算給您看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3C9"/>
                </a:solidFill>
              </a:rPr>
              <a:t>假設：3,000 萬持有 S&amp;P 500，2007/10 指數在高點 1,565 點；大跌時不賣股，用質借分 3 批、每批 100 萬加碼。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7607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234440"/>
                <a:gridCol w="822960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批次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日期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指數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回到前高時值多少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第 1 批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2008/11/04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1,006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100 × 1,565 ÷ 1,006 ≈ 156 萬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第 2 批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2008/11/26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888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100 × 1,565 ÷ 888 ≈ 176 萬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第 3 批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2009/03/17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778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100 × 1,565 ÷ 778 ≈ 201 萬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EF1F7"/>
                          </a:solidFill>
                        </a:rPr>
                        <a:t>合計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EF1F7"/>
                          </a:solidFill>
                        </a:rPr>
                        <a:t>借 300 萬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D4AB62"/>
                          </a:solidFill>
                        </a:rPr>
                        <a:t>≈ 533 萬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6629400" y="2011680"/>
            <a:ext cx="5013655" cy="1051560"/>
          </a:xfrm>
          <a:prstGeom prst="roundRect">
            <a:avLst>
              <a:gd name="adj" fmla="val 6957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30568" y="2176272"/>
            <a:ext cx="461131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8B3C9"/>
                </a:solidFill>
              </a:rPr>
              <a:t>持有不動 → 3,008 萬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3,000 萬一張沒動，2013/3 指數回到前高（略高 0.3%），帳戶 3,008 萬。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629400" y="3154680"/>
            <a:ext cx="5013655" cy="1051560"/>
          </a:xfrm>
          <a:prstGeom prst="roundRect">
            <a:avLst>
              <a:gd name="adj" fmla="val 6957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30568" y="3319272"/>
            <a:ext cx="461131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4AB62"/>
                </a:solidFill>
              </a:rPr>
              <a:t>質借分批加碼 → 3,216 萬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3,008 萬 ＋ 加碼部位約 534 萬 − 還清借款 326 萬（300 萬加 4 年多利息）≈ 3,216 萬。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629400" y="4297680"/>
            <a:ext cx="5013655" cy="1051560"/>
          </a:xfrm>
          <a:prstGeom prst="roundRect">
            <a:avLst>
              <a:gd name="adj" fmla="val 6957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30568" y="4462272"/>
            <a:ext cx="461131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</a:rPr>
              <a:t>為什麼提早還原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多了約 533 萬的股票，指數只要回到前高約九成四，帳戶就回到 3,000 萬（2013/1）。</a:t>
            </a:r>
            <a:endParaRPr lang="en-US" sz="1500" dirty="0"/>
          </a:p>
        </p:txBody>
      </p:sp>
      <p:sp>
        <p:nvSpPr>
          <p:cNvPr id="12" name="note"/>
          <p:cNvSpPr/>
          <p:nvPr/>
        </p:nvSpPr>
        <p:spPr>
          <a:xfrm>
            <a:off x="548640" y="553212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55321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差別就在：在低點用借來的 300 萬，買到回升後值 533 萬的股票；扣掉利息，淨多 208 萬。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步驟三・地板在哪裡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只借 300 萬加碼，離追繳很遠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5410048" cy="2514600"/>
          </a:xfrm>
          <a:prstGeom prst="roundRect">
            <a:avLst>
              <a:gd name="adj" fmla="val 290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01952"/>
            <a:ext cx="5007712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2008 年美股・最高借款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800" b="1" dirty="0">
                <a:solidFill>
                  <a:srgbClr val="EEF1F7"/>
                </a:solidFill>
              </a:rPr>
              <a:t>326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擔保品市值最低時仍是借款的 5.8 倍；擔保品要再跌約七成才會觸及追繳。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6233008" y="1737360"/>
            <a:ext cx="5410048" cy="2514600"/>
          </a:xfrm>
          <a:prstGeom prst="roundRect">
            <a:avLst>
              <a:gd name="adj" fmla="val 290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34176" y="1901952"/>
            <a:ext cx="5007712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2000 年台股・最高借款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800" b="1" dirty="0">
                <a:solidFill>
                  <a:srgbClr val="EEF1F7"/>
                </a:solidFill>
              </a:rPr>
              <a:t>414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借款放了 16 年多、連利息累積到 414 萬；擔保品最低時仍是借款的 4 倍，要再跌近六成才會追繳。</a:t>
            </a:r>
            <a:endParaRPr lang="en-US" sz="1300" dirty="0"/>
          </a:p>
        </p:txBody>
      </p:sp>
      <p:sp>
        <p:nvSpPr>
          <p:cNvPr id="8" name="note"/>
          <p:cNvSpPr/>
          <p:nvPr/>
        </p:nvSpPr>
        <p:spPr>
          <a:xfrm>
            <a:off x="548640" y="45262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52628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追繳規則：擔保品市值 × 成數低於借款餘額時，須於 30 天內補足擔保品或還款。加碼只用約四分之一額度，把緩衝留在自己手上。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進階做法・低點質借加碼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大跌時不只撐住，還能用質借在低點加碼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56232"/>
            <a:ext cx="435254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在七折時借 300 萬買進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3000" b="1" dirty="0">
                <a:solidFill>
                  <a:srgbClr val="D4AB62"/>
                </a:solidFill>
              </a:rPr>
              <a:t>回到原價 ≈ 429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300 萬 ÷ 0.7 ≈ 429 萬。還掉借款與利息後，剩下的就是多賺的部分；跌得越深、買得越低，多得越多。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69164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3C9"/>
                </a:solidFill>
              </a:rPr>
              <a:t>分批加碼 300 萬，比持有不動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577840" y="2148840"/>
            <a:ext cx="6065215" cy="658368"/>
          </a:xfrm>
          <a:prstGeom prst="roundRect">
            <a:avLst>
              <a:gd name="adj" fmla="val 1111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79008" y="2313432"/>
            <a:ext cx="5662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2148840"/>
            <a:ext cx="2773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7"/>
                </a:solidFill>
              </a:rPr>
              <a:t>最好的結局</a:t>
            </a:r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　2020 美股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25535" y="214884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CC79C"/>
                </a:solidFill>
              </a:rPr>
              <a:t>＋28 萬</a:t>
            </a:r>
            <a:endParaRPr lang="en-US" sz="22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A8B3C9"/>
                </a:solidFill>
              </a:rPr>
              <a:t>同樣半年還原</a:t>
            </a:r>
            <a:endParaRPr lang="en-US" sz="2200" dirty="0"/>
          </a:p>
        </p:txBody>
      </p:sp>
      <p:sp>
        <p:nvSpPr>
          <p:cNvPr id="11" name="card"/>
          <p:cNvSpPr/>
          <p:nvPr/>
        </p:nvSpPr>
        <p:spPr>
          <a:xfrm>
            <a:off x="5577840" y="2926080"/>
            <a:ext cx="6065215" cy="658368"/>
          </a:xfrm>
          <a:prstGeom prst="roundRect">
            <a:avLst>
              <a:gd name="adj" fmla="val 1111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79008" y="3090672"/>
            <a:ext cx="5662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926080"/>
            <a:ext cx="2773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7"/>
                </a:solidFill>
              </a:rPr>
              <a:t>最可能的結局</a:t>
            </a:r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　2008 美股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25535" y="292608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CC79C"/>
                </a:solidFill>
              </a:rPr>
              <a:t>＋208 萬</a:t>
            </a:r>
            <a:endParaRPr lang="en-US" sz="22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A8B3C9"/>
                </a:solidFill>
              </a:rPr>
              <a:t>早 2 個月還原</a:t>
            </a:r>
            <a:endParaRPr lang="en-US" sz="2200" dirty="0"/>
          </a:p>
        </p:txBody>
      </p:sp>
      <p:sp>
        <p:nvSpPr>
          <p:cNvPr id="15" name="card"/>
          <p:cNvSpPr/>
          <p:nvPr/>
        </p:nvSpPr>
        <p:spPr>
          <a:xfrm>
            <a:off x="5577840" y="3703320"/>
            <a:ext cx="6065215" cy="658368"/>
          </a:xfrm>
          <a:prstGeom prst="roundRect">
            <a:avLst>
              <a:gd name="adj" fmla="val 1111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79008" y="3867912"/>
            <a:ext cx="5662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703320"/>
            <a:ext cx="2773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7"/>
                </a:solidFill>
              </a:rPr>
              <a:t>最壞的結局</a:t>
            </a:r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　2000 台股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25535" y="370332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CC79C"/>
                </a:solidFill>
              </a:rPr>
              <a:t>＋167 萬</a:t>
            </a:r>
            <a:endParaRPr lang="en-US" sz="22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A8B3C9"/>
                </a:solidFill>
              </a:rPr>
              <a:t>早約 10 年還原</a:t>
            </a:r>
            <a:endParaRPr lang="en-US" sz="2200" dirty="0"/>
          </a:p>
        </p:txBody>
      </p:sp>
      <p:sp>
        <p:nvSpPr>
          <p:cNvPr id="19" name="note"/>
          <p:cNvSpPr/>
          <p:nvPr/>
        </p:nvSpPr>
        <p:spPr>
          <a:xfrm>
            <a:off x="548640" y="480060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80060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加碼金額以 300 萬為限，分批進場；市場低迷越久，提早還原的效果越明顯。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加碼方式的由來・電腦模擬 2 萬種未來走勢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同樣 300 萬，為什麼要等反彈才買？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B3C9"/>
                </a:solidFill>
              </a:rPr>
              <a:t>從前高跌三成開始，3,000 萬股票、不提領，用電腦隨機跑出 2 萬種未來 15 年走勢：有的半年就回來，有的再腰斬。每一種走勢，都用 4 種買法各跑一次。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12848"/>
          <a:ext cx="1109441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450592"/>
                <a:gridCol w="2450592"/>
                <a:gridCol w="244144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同樣用質借加碼 300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一般情況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A8B3C9"/>
                          </a:solidFill>
                        </a:rPr>
                        <a:t>10 年後帳戶（中間值）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最慘的一成走勢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A8B3C9"/>
                          </a:solidFill>
                        </a:rPr>
                        <a:t>5 年後，比不加碼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最慘的一成走勢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A8B3C9"/>
                          </a:solidFill>
                        </a:rPr>
                        <a:t>被追繳的機率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8B3C9"/>
                          </a:solidFill>
                        </a:rPr>
                        <a:t>不加碼（對照）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A8B3C9"/>
                          </a:solidFill>
                        </a:rPr>
                        <a:t>3,022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A8B3C9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A8B3C9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跌三成，一次買 300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3,129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27D70"/>
                          </a:solidFill>
                        </a:rPr>
                        <a:t>少 213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27D70"/>
                          </a:solidFill>
                        </a:rPr>
                        <a:t>51%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跌三、四、五成，各買 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3,150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27D70"/>
                          </a:solidFill>
                        </a:rPr>
                        <a:t>少 175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27D70"/>
                          </a:solidFill>
                        </a:rPr>
                        <a:t>44%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不管漲跌，每半年買 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3,164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27D70"/>
                          </a:solidFill>
                        </a:rPr>
                        <a:t>少 163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27D70"/>
                          </a:solidFill>
                        </a:rPr>
                        <a:t>41%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4AB62"/>
                          </a:solidFill>
                        </a:rPr>
                        <a:t>每次反彈一成五，才買 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D4AB62"/>
                          </a:solidFill>
                        </a:rPr>
                        <a:t>3,172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D4AB62"/>
                          </a:solidFill>
                        </a:rPr>
                        <a:t>少 34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D4AB62"/>
                          </a:solidFill>
                        </a:rPr>
                        <a:t>18%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548640" y="512064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1206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怎麼看：一般情況下，4 種買法 10 年後差不多；差別在「買錯」的時候。一次買進碰上再腰斬，被追繳的機率約五成；等反彈再買，被追繳的機率可以降到兩成以下，虧損也是四種買法中最少的。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2531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模擬設定：股價報酬分「多頭／空頭」兩種狀態隨機切換，未含股息；質借利率 2%；回到前高時賣股還清加碼借款。「最慘的一成」指指數從前高最深跌掉七成七以上的走勢，比 2008 年美股（跌 57%）更極端。全部 2 萬種走勢中，一次買進被追繳 5.1%，等反彈再買 1.8%。模擬結果不代表未來表現。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回測・分批加碼 vs 單筆加碼（各 300 萬）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跌得越深、越久，分批加碼越有優勢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7452360" y="1600200"/>
            <a:ext cx="4190695" cy="1325880"/>
          </a:xfrm>
          <a:prstGeom prst="roundRect">
            <a:avLst>
              <a:gd name="adj" fmla="val 5517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53528" y="1764792"/>
            <a:ext cx="3788359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</a:rPr>
              <a:t>7 段大跌，分批勝出 5 段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跌得越深、拖得越久，分批越好：台股 2008 多保留 248 萬，單筆只有 92 萬。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452360" y="3063240"/>
            <a:ext cx="4190695" cy="1325880"/>
          </a:xfrm>
          <a:prstGeom prst="roundRect">
            <a:avLst>
              <a:gd name="adj" fmla="val 5517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53528" y="3227832"/>
            <a:ext cx="3788359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</a:rPr>
              <a:t>最慢的時候差最多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台股 2000 年那段，單筆只多 26 萬、17 年才還原；分批多 167 萬、7 年多就還原。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7452360" y="4526280"/>
            <a:ext cx="4190695" cy="1325880"/>
          </a:xfrm>
          <a:prstGeom prst="roundRect">
            <a:avLst>
              <a:gd name="adj" fmla="val 5517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53528" y="4690872"/>
            <a:ext cx="3788359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</a:rPr>
              <a:t>單筆只在快速回升時較好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2020 美股、2022 台股很快就回來，單筆較好；但大跌當下，沒有人知道會是哪一種。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925312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原理：分批每次等反彈才買，跌得越深，越能買到更低的價位（深跌時平均買在前高約五到六成，單筆約七成）。資料庫內其餘 6 段跌幅未達三成、也沒有出現反彈訊號，兩種做法都沒有買進。S&amp;P 500 自 1990 年、台股加權指數自 1997 年每日收盤，未含股息。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加碼方式說明・等反彈確認，再分 3 次加碼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不猜底部：每次等反彈一成五，再買下一筆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27632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92224"/>
            <a:ext cx="4809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tep-num"/>
          <p:cNvSpPr/>
          <p:nvPr/>
        </p:nvSpPr>
        <p:spPr>
          <a:xfrm>
            <a:off x="731520" y="1847088"/>
            <a:ext cx="548640" cy="548640"/>
          </a:xfrm>
          <a:prstGeom prst="ellipse">
            <a:avLst/>
          </a:prstGeom>
          <a:solidFill>
            <a:srgbClr val="D4AB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347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719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7"/>
                </a:solidFill>
              </a:rPr>
              <a:t>啟動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指數從前高跌超過兩成（市場常用的空頭標準），開始記錄最低點。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2633472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798064"/>
            <a:ext cx="4809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tep-num"/>
          <p:cNvSpPr/>
          <p:nvPr/>
        </p:nvSpPr>
        <p:spPr>
          <a:xfrm>
            <a:off x="731520" y="2852928"/>
            <a:ext cx="548640" cy="548640"/>
          </a:xfrm>
          <a:prstGeom prst="ellipse">
            <a:avLst/>
          </a:prstGeom>
          <a:solidFill>
            <a:srgbClr val="D4AB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347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7249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7"/>
                </a:solidFill>
              </a:rPr>
              <a:t>第一筆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從最低點反彈一成五時，買進加碼總額的三分之一。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548640" y="3639312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803904"/>
            <a:ext cx="4809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tep-num"/>
          <p:cNvSpPr/>
          <p:nvPr/>
        </p:nvSpPr>
        <p:spPr>
          <a:xfrm>
            <a:off x="731520" y="3858768"/>
            <a:ext cx="548640" cy="548640"/>
          </a:xfrm>
          <a:prstGeom prst="ellipse">
            <a:avLst/>
          </a:prstGeom>
          <a:solidFill>
            <a:srgbClr val="D4AB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347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3075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7"/>
                </a:solidFill>
              </a:rPr>
              <a:t>下一筆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買進後若又創新低，就改記新的低點；從新低再反彈一成五，才買下一筆。最多 3 筆。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548640" y="4645152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809744"/>
            <a:ext cx="48097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tep-num"/>
          <p:cNvSpPr/>
          <p:nvPr/>
        </p:nvSpPr>
        <p:spPr>
          <a:xfrm>
            <a:off x="731520" y="4864608"/>
            <a:ext cx="548640" cy="548640"/>
          </a:xfrm>
          <a:prstGeom prst="ellipse">
            <a:avLst/>
          </a:prstGeom>
          <a:solidFill>
            <a:srgbClr val="D4AB6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347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73659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1F7"/>
                </a:solidFill>
              </a:rPr>
              <a:t>上限與還款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加碼後總借款若超過可借額度約三分之一，該筆略過。指數回到前高，賣股還清加碼借款。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080760" y="1627632"/>
            <a:ext cx="5562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B62"/>
                </a:solidFill>
              </a:rPr>
              <a:t>實例：2008 年美股，加碼總額 300 萬，每筆 100 萬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057400"/>
          <a:ext cx="55622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85800"/>
                <a:gridCol w="960120"/>
                <a:gridCol w="2819095"/>
              </a:tblGrid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日期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指數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當時最低點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動作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2008/11/04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1,006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849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反彈一成五，買第一筆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2008/11/26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888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752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創新低後反彈，買第二筆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2009/03/17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778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677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再創新低後反彈，買第三筆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2013/03/28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1,569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4AB62"/>
                          </a:solidFill>
                        </a:rPr>
                        <a:t>回到前高，還清 326 萬（含息）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26" name="card"/>
          <p:cNvSpPr/>
          <p:nvPr/>
        </p:nvSpPr>
        <p:spPr>
          <a:xfrm>
            <a:off x="6080760" y="4434840"/>
            <a:ext cx="5562295" cy="1124712"/>
          </a:xfrm>
          <a:prstGeom prst="roundRect">
            <a:avLst>
              <a:gd name="adj" fmla="val 6504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81928" y="4599432"/>
            <a:ext cx="5159959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</a:rPr>
              <a:t>三筆平均約 891 點買進，真正的底部是 677 點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A8B3C9"/>
                </a:solidFill>
              </a:rPr>
              <a:t>沒有買在最低點，但每一筆都等到反彈才進場。市場回到前高時，比不加碼多 208 萬。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76072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為什麼是兩成、一成五？回測 12 種設定（開始記錄 1.5～3 成 × 反彈 1～2 成），分批的總成績每一組都贏過單筆，且沒有一段大跌會虧；其中這一組總成績最好。樣本只有 13 段大跌，重點在「分批比單筆穩」，而非精準的最佳數字。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歷史回測・美股與台股真實每日走勢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分批加碼更快還原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828800"/>
                <a:gridCol w="1828800"/>
                <a:gridCol w="2331720"/>
                <a:gridCol w="25877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4AB62"/>
                          </a:solidFill>
                        </a:rPr>
                        <a:t>大跌（從前高到回到前高）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4AB62"/>
                          </a:solidFill>
                        </a:rPr>
                        <a:t>低點全數賣出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跌三成時賣掉，不再進場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4AB62"/>
                          </a:solidFill>
                        </a:rPr>
                        <a:t>持有不動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資產還原時間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4AB62"/>
                          </a:solidFill>
                        </a:rPr>
                        <a:t>＋分批加碼 300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資產還原時間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4AB62"/>
                          </a:solidFill>
                        </a:rPr>
                        <a:t>到 2026/10/1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分批加碼／持有不動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美股 2000 網路泡沫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7.2 年回到前高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2,100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3,005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7.2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4AB62"/>
                          </a:solidFill>
                        </a:rPr>
                        <a:t>3,148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7.1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CC79C"/>
                          </a:solidFill>
                        </a:rPr>
                        <a:t>16,849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不動：15,057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美股 2008 金融海嘯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5.5 年回到前高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2,100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3,008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5.5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4AB62"/>
                          </a:solidFill>
                        </a:rPr>
                        <a:t>3,216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5.3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CC79C"/>
                          </a:solidFill>
                        </a:rPr>
                        <a:t>15,775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不動：14,695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美股 2020 新冠疫情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半年回到前高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2,100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3,003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0.5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4AB62"/>
                          </a:solidFill>
                        </a:rPr>
                        <a:t>3,031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0.5 年・只買到第 1 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CC79C"/>
                          </a:solidFill>
                        </a:rPr>
                        <a:t>6,856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不動：6,792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台股 2000 網路泡沫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17.3 年回到前高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2,100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3,007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17.3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4AB62"/>
                          </a:solidFill>
                        </a:rPr>
                        <a:t>3,174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7.4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CC79C"/>
                          </a:solidFill>
                        </a:rPr>
                        <a:t>15,074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不動：14,219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台股 2008 金融海嘯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7.5 年回到前高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2,100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EF1F7"/>
                          </a:solidFill>
                        </a:rPr>
                        <a:t>3,032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7.5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4AB62"/>
                          </a:solidFill>
                        </a:rPr>
                        <a:t>3,280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3.2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6CC79C"/>
                          </a:solidFill>
                        </a:rPr>
                        <a:t>16,063 萬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8B3C9"/>
                          </a:solidFill>
                        </a:rPr>
                        <a:t>不動：14,787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/>
          <p:nvPr/>
        </p:nvSpPr>
        <p:spPr>
          <a:xfrm>
            <a:off x="548640" y="5285232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85232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怎麼看：同樣從 3,000 萬開始、不提領。台股 2008 那段，不動要 7.5 年才還原，分批 3.2 年；到今年，分批 16,063 萬、不動 14,787 萬，低點賣掉的人還停在 2,100 萬。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98932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每段都從前一個高點、3,000 萬股票開始；中間欄位算到指數回到前高為止。「到 2026/10/1」為同一套規則繼續執行，之後的大跌照樣分批加碼，期間質借皆已還清。質借利率 2%；價格指數未含股息，美股未計匯率。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步驟四・寫好了，就有權放下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每一種擔心，都可以用同一套結構拆開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D4AB62"/>
                </a:solidFill>
              </a:rPr>
              <a:t>“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45920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EF1F7"/>
                </a:solidFill>
              </a:rPr>
              <a:t>我的擔心，不會改變事情的走向。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Arthur Brooks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擔心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換成具體問題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股市大跌，退休資產怎麼辦？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跌三成帳面少多少？持有不動要多久還原？加碼能提早多久？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公司增資，急需一大筆現金？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哪些資產可以質借？可借多少？多快能撥款？用借的還是賣股？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孩子買房，要高額頭期款？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給多少不影響自己的規劃？從質借支應，還是在低點賣股？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想趁低點加碼，資金從哪來？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加碼上限多少？分批還是單筆？什麼時候還款？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重要風險揭露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使用本簡報前請留意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本簡報以指數真實每日走勢回測，示範 3,000 萬全數投入指數、不提領生活費；實際持股表現、回升時間可能不同，也可能不回到原水位。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投資質借有利息成本，利率可能隨市場調整。借款期間擔保品若再下跌，使「擔保品市值 × 成數」低於借款餘額，將收到追繳通知，須於 30 天內補足擔保品或還款，否則銀行得處分擔保品。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低點質借加碼屬槓桿操作：若市場續跌或回升時間拉長，利息與追繳風險會放大，結果可能不如持有不動。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歷史回測採用 S&amp;P 500 價格指數（^GSPC，1990-01-02 至 2026-10-28）與台股加權指數（^TWII，1997-07-02 至 2026-10-28）每日收盤價，均未含股息；S&amp;P 500 以美元計價且未計匯率。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成數、利率、額度及可擔保之商品，以渣打銀行實際核定為準，銀行得隨時調整。1990 年以前美股回升年數引自公開資料整理，僅供說明。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未計稅負、交易成本與匯率變動。本簡報僅供說明與討論，不構成投資建議或報酬保證，過去績效不代表未來表現。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awan Navy Gold">
  <a:themeElements>
    <a:clrScheme name="Yawan Navy Gold">
      <a:dk1>
        <a:srgbClr val="0F2347"/>
      </a:dk1>
      <a:lt1>
        <a:srgbClr val="FFFFFF"/>
      </a:lt1>
      <a:dk2>
        <a:srgbClr val="132C58"/>
      </a:dk2>
      <a:lt2>
        <a:srgbClr val="EEF1F7"/>
      </a:lt2>
      <a:accent1>
        <a:srgbClr val="D4AB62"/>
      </a:accent1>
      <a:accent2>
        <a:srgbClr val="E27D70"/>
      </a:accent2>
      <a:accent3>
        <a:srgbClr val="6CC79C"/>
      </a:accent3>
      <a:accent4>
        <a:srgbClr val="8FB0EA"/>
      </a:accent4>
      <a:accent5>
        <a:srgbClr val="A8B3C9"/>
      </a:accent5>
      <a:accent6>
        <a:srgbClr val="E8B356"/>
      </a:accent6>
      <a:hlink>
        <a:srgbClr val="D4AB62"/>
      </a:hlink>
      <a:folHlink>
        <a:srgbClr val="B48A3C"/>
      </a:folHlink>
    </a:clrScheme>
    <a:fontScheme name="Yawan Navy Gold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把跌 30% 寫成三種結局</dc:title>
  <dc:subject>PptxGenJS Presentation</dc:subject>
  <dc:creator>亞灣 Priority Private</dc:creator>
  <cp:lastModifiedBy>亞灣 Priority Private</cp:lastModifiedBy>
  <cp:revision>1</cp:revision>
  <dcterms:created xsi:type="dcterms:W3CDTF">2026-10-29T15:12:02Z</dcterms:created>
  <dcterms:modified xsi:type="dcterms:W3CDTF">2026-10-29T15:12:02Z</dcterms:modified>
</cp:coreProperties>
</file>