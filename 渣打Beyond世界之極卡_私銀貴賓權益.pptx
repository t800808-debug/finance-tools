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100" y="4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6227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3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渣打銀行 優先私人理財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6400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Beyond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世界之極卡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 err="1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與私銀貴賓權益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26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400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CHARTERED · BEYOND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Mastercard World Elite ｜ 邀請制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資料整理截至 2026 年 9 月</a:t>
            </a:r>
            <a:endParaRPr lang="en-US" sz="1300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464947AC-FDFA-994C-81FF-2C6D080C2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6934" y="1936139"/>
            <a:ext cx="3600868" cy="22542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1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卡片概覽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專為資產 3,000 萬以上貴賓設計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渣打 Beyond 世界之極卡</a:t>
            </a:r>
            <a:r>
              <a:rPr lang="en-US" sz="10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2476424" cy="2194560"/>
          </a:xfrm>
          <a:prstGeom prst="roundRect">
            <a:avLst>
              <a:gd name="adj" fmla="val 2500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1005840" y="2103120"/>
            <a:ext cx="1927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3,000</a:t>
            </a:r>
            <a:r>
              <a:rPr lang="en-US" sz="18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萬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971800"/>
            <a:ext cx="1927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 3 個月月平均往來資產，邀請制申辦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82264" y="1828800"/>
            <a:ext cx="2476424" cy="2194560"/>
          </a:xfrm>
          <a:prstGeom prst="roundRect">
            <a:avLst>
              <a:gd name="adj" fmla="val 2500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3756584" y="2103120"/>
            <a:ext cx="1927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r>
              <a:rPr lang="en-US" sz="18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萬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3756584" y="2971800"/>
            <a:ext cx="1927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正卡年費 NT$30,000，首年免；附卡免年費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3008" y="1828800"/>
            <a:ext cx="2476424" cy="2194560"/>
          </a:xfrm>
          <a:prstGeom prst="roundRect">
            <a:avLst>
              <a:gd name="adj" fmla="val 2500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6507328" y="2103120"/>
            <a:ext cx="1927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r>
              <a:rPr lang="en-US" sz="18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次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507328" y="2971800"/>
            <a:ext cx="1927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全球機場貴賓室與國際機場接送，各年 8 次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83751" y="1828800"/>
            <a:ext cx="2476424" cy="2194560"/>
          </a:xfrm>
          <a:prstGeom prst="roundRect">
            <a:avLst>
              <a:gd name="adj" fmla="val 2500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9258071" y="2103120"/>
            <a:ext cx="1927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5,000</a:t>
            </a:r>
            <a:r>
              <a:rPr lang="en-US" sz="18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萬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9258071" y="2971800"/>
            <a:ext cx="1927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公共運輸期間旅平險最高保額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389120"/>
            <a:ext cx="10728655" cy="731520"/>
          </a:xfrm>
          <a:prstGeom prst="roundRect">
            <a:avLst>
              <a:gd name="adj" fmla="val 6250"/>
            </a:avLst>
          </a:prstGeom>
          <a:solidFill>
            <a:srgbClr val="1D3A66"/>
          </a:solidFill>
          <a:ln w="12700">
            <a:solidFill>
              <a:srgbClr val="1D3A6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 txBox="1"/>
          <p:nvPr/>
        </p:nvSpPr>
        <p:spPr>
          <a:xfrm>
            <a:off x="1005840" y="4389120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資產達 1 億元以上可解鎖加碼：國內回饋 1.25%、機票升等年 4 張、國內禮遇通關年 2 次。多數禮遇期間至 2027/12/31。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1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現金回饋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11547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海外與餐飲消費回饋最有感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渣打 Beyond 世界之極卡</a:t>
            </a:r>
            <a:r>
              <a:rPr lang="en-US" sz="10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03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國內一般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108960" y="1965960"/>
            <a:ext cx="7223760" cy="182880"/>
          </a:xfrm>
          <a:prstGeom prst="roundRect">
            <a:avLst>
              <a:gd name="adj" fmla="val 50000"/>
            </a:avLst>
          </a:prstGeom>
          <a:solidFill>
            <a:srgbClr val="2A3B5C"/>
          </a:solidFill>
          <a:ln w="12700">
            <a:solidFill>
              <a:srgbClr val="2A3B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3108960" y="1965960"/>
            <a:ext cx="722376" cy="182880"/>
          </a:xfrm>
          <a:prstGeom prst="roundRect">
            <a:avLst>
              <a:gd name="adj" fmla="val 50000"/>
            </a:avLst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10424160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1%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441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國內一般（1億+）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08960" y="2532888"/>
            <a:ext cx="7223760" cy="182880"/>
          </a:xfrm>
          <a:prstGeom prst="roundRect">
            <a:avLst>
              <a:gd name="adj" fmla="val 50000"/>
            </a:avLst>
          </a:prstGeom>
          <a:solidFill>
            <a:srgbClr val="2A3B5C"/>
          </a:solidFill>
          <a:ln w="12700">
            <a:solidFill>
              <a:srgbClr val="2A3B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108960" y="2532888"/>
            <a:ext cx="902970" cy="182880"/>
          </a:xfrm>
          <a:prstGeom prst="roundRect">
            <a:avLst>
              <a:gd name="adj" fmla="val 50000"/>
            </a:avLst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10424160" y="2441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1.25%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0083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海外一般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108960" y="3099816"/>
            <a:ext cx="7223760" cy="182880"/>
          </a:xfrm>
          <a:prstGeom prst="roundRect">
            <a:avLst>
              <a:gd name="adj" fmla="val 50000"/>
            </a:avLst>
          </a:prstGeom>
          <a:solidFill>
            <a:srgbClr val="2A3B5C"/>
          </a:solidFill>
          <a:ln w="12700">
            <a:solidFill>
              <a:srgbClr val="2A3B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3108960" y="3099816"/>
            <a:ext cx="2167128" cy="182880"/>
          </a:xfrm>
          <a:prstGeom prst="roundRect">
            <a:avLst>
              <a:gd name="adj" fmla="val 50000"/>
            </a:avLst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 txBox="1"/>
          <p:nvPr/>
        </p:nvSpPr>
        <p:spPr>
          <a:xfrm>
            <a:off x="10424160" y="30083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3%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753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國內餐飲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108960" y="3666744"/>
            <a:ext cx="7223760" cy="182880"/>
          </a:xfrm>
          <a:prstGeom prst="roundRect">
            <a:avLst>
              <a:gd name="adj" fmla="val 50000"/>
            </a:avLst>
          </a:prstGeom>
          <a:solidFill>
            <a:srgbClr val="2A3B5C"/>
          </a:solidFill>
          <a:ln w="12700">
            <a:solidFill>
              <a:srgbClr val="2A3B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3108960" y="3666744"/>
            <a:ext cx="3611880" cy="182880"/>
          </a:xfrm>
          <a:prstGeom prst="roundRect">
            <a:avLst>
              <a:gd name="adj" fmla="val 50000"/>
            </a:avLst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 txBox="1"/>
          <p:nvPr/>
        </p:nvSpPr>
        <p:spPr>
          <a:xfrm>
            <a:off x="10424160" y="35753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0000"/>
                </a:solidFill>
                <a:highlight>
                  <a:srgbClr val="FFFF00"/>
                </a:highlight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5%</a:t>
            </a:r>
            <a:endParaRPr lang="en-US" sz="2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731520" y="41422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海外餐飲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108960" y="4233672"/>
            <a:ext cx="7223760" cy="182880"/>
          </a:xfrm>
          <a:prstGeom prst="roundRect">
            <a:avLst>
              <a:gd name="adj" fmla="val 50000"/>
            </a:avLst>
          </a:prstGeom>
          <a:solidFill>
            <a:srgbClr val="2A3B5C"/>
          </a:solidFill>
          <a:ln w="12700">
            <a:solidFill>
              <a:srgbClr val="2A3B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3108960" y="4233672"/>
            <a:ext cx="7223760" cy="182880"/>
          </a:xfrm>
          <a:prstGeom prst="roundRect">
            <a:avLst>
              <a:gd name="adj" fmla="val 50000"/>
            </a:avLst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 txBox="1"/>
          <p:nvPr/>
        </p:nvSpPr>
        <p:spPr>
          <a:xfrm>
            <a:off x="10424160" y="41422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0000"/>
                </a:solidFill>
                <a:highlight>
                  <a:srgbClr val="FFFF00"/>
                </a:highlight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10%</a:t>
            </a:r>
            <a:endParaRPr lang="en-US" sz="2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31520" y="4892040"/>
            <a:ext cx="10728655" cy="914400"/>
          </a:xfrm>
          <a:prstGeom prst="roundRect">
            <a:avLst>
              <a:gd name="adj" fmla="val 5000"/>
            </a:avLst>
          </a:prstGeom>
          <a:solidFill>
            <a:srgbClr val="1D3A66"/>
          </a:solidFill>
          <a:ln w="12700">
            <a:solidFill>
              <a:srgbClr val="1D3A6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基本回饋 1%（1億+ 為 1.25%）無上限；海外及餐飲的加碼部分合計每季上限 NT$10,000。海外餐飲約刷 NT$111,000 即達季上限，國內餐飲則需約 NT$200,000。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1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旅遊禮遇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兩組禮遇，使用條件不同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渣打 Beyond 世界之極卡</a:t>
            </a:r>
            <a:r>
              <a:rPr lang="en-US" sz="10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181448" cy="4206240"/>
          </a:xfrm>
          <a:prstGeom prst="roundRect">
            <a:avLst>
              <a:gd name="adj" fmla="val 1304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005840" y="2057400"/>
            <a:ext cx="1271016" cy="292608"/>
          </a:xfrm>
          <a:prstGeom prst="roundRect">
            <a:avLst>
              <a:gd name="adj" fmla="val 9375"/>
            </a:avLst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057400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依資產級距享有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468880"/>
            <a:ext cx="463280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機票升等與禮遇通關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0000"/>
                </a:solidFill>
                <a:highlight>
                  <a:srgbClr val="FFFF00"/>
                </a:highlight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長榮／華航亞洲線，經濟艙升等商務艙</a:t>
            </a:r>
            <a:endParaRPr lang="en-US" sz="1900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3,000 萬：年 2 張；1 億+：年 4 張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限單程、指定商務艙票價，經萬事達卡禮賓訂票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國內禮遇通關：限 1 億+，年 2 次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278728" y="1828800"/>
            <a:ext cx="5181448" cy="4206240"/>
          </a:xfrm>
          <a:prstGeom prst="roundRect">
            <a:avLst>
              <a:gd name="adj" fmla="val 1304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553048" y="2057400"/>
            <a:ext cx="2980944" cy="292608"/>
          </a:xfrm>
          <a:prstGeom prst="roundRect">
            <a:avLst>
              <a:gd name="adj" fmla="val 9375"/>
            </a:avLst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6553048" y="205740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另需近 2 個月刷卡滿 NT$3 萬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2468880"/>
            <a:ext cx="463280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機場與交通服務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全球機場貴賓室 年 8 人次（每次 2 小時）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0000"/>
                </a:solidFill>
                <a:highlight>
                  <a:srgbClr val="FFFF00"/>
                </a:highlight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國際機場接送 年 8 次（松山／桃園／清泉崗／小港）</a:t>
            </a:r>
            <a:endParaRPr lang="en-US" sz="1900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桃園機場周邊停車 年 30 天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 小時道路救援 50 公里內</a:t>
            </a:r>
            <a:endParaRPr lang="en-US" sz="19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15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未達刷卡門檻仍可使用，但依項目扣款：貴賓室 NT$900／人次、接送 NT$2,000／次、停車 NT$250／天、道路救援 NT$2,000／次。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1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旅遊保障 ｜ 新戶首刷禮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全家出行保障，加上首刷好禮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渣打 Beyond 世界之極卡</a:t>
            </a:r>
            <a:r>
              <a:rPr lang="en-US" sz="10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393338" cy="2377440"/>
          </a:xfrm>
          <a:prstGeom prst="roundRect">
            <a:avLst>
              <a:gd name="adj" fmla="val 2308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1005840" y="2057400"/>
            <a:ext cx="2844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5,000</a:t>
            </a:r>
            <a:r>
              <a:rPr lang="en-US" sz="18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萬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926080"/>
            <a:ext cx="28446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公共運輸期間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旅平險最高保額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99178" y="1828800"/>
            <a:ext cx="3393338" cy="2377440"/>
          </a:xfrm>
          <a:prstGeom prst="roundRect">
            <a:avLst>
              <a:gd name="adj" fmla="val 2308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4673498" y="2057400"/>
            <a:ext cx="2844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1,000</a:t>
            </a:r>
            <a:r>
              <a:rPr lang="en-US" sz="18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萬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673498" y="2926080"/>
            <a:ext cx="28446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海外全程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旅平險最高保額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66837" y="1828800"/>
            <a:ext cx="3393338" cy="2377440"/>
          </a:xfrm>
          <a:prstGeom prst="roundRect">
            <a:avLst>
              <a:gd name="adj" fmla="val 2308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8341157" y="2057400"/>
            <a:ext cx="2844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</a:t>
            </a:r>
            <a:r>
              <a:rPr lang="en-US" sz="18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萬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8341157" y="2926080"/>
            <a:ext cx="28446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海外醫療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另含班機延誤、行李延誤／遺失等不便險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4526280"/>
            <a:ext cx="10728655" cy="1371600"/>
          </a:xfrm>
          <a:prstGeom prst="roundRect">
            <a:avLst>
              <a:gd name="adj" fmla="val 3333"/>
            </a:avLst>
          </a:prstGeom>
          <a:solidFill>
            <a:srgbClr val="1D3A66"/>
          </a:solidFill>
          <a:ln w="12700">
            <a:solidFill>
              <a:srgbClr val="1D3A6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1005840" y="4526280"/>
            <a:ext cx="10180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保障對象：</a:t>
            </a:r>
            <a:r>
              <a:rPr lang="en-US" sz="1300" dirty="0">
                <a:solidFill>
                  <a:srgbClr val="FF0000"/>
                </a:solidFill>
                <a:highlight>
                  <a:srgbClr val="FFFF00"/>
                </a:highlight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持卡人本人、配偶及未滿 25 歲未婚子女，承保單位國泰世紀產險。</a:t>
            </a:r>
            <a:endParaRPr lang="en-US" sz="1300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首刷禮：核卡 90 天內新增消費達 NT$66,000，且回饋前維持優先私人理財貴賓資格（3 個月月均資產 3,000 萬），享高鐵標準車廂單程票 8 張。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1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餐飲優惠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兩種機制：自助餐 5 折、精緻餐廳滿千送千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渣打 Beyond 世界之極卡</a:t>
            </a:r>
            <a:r>
              <a:rPr lang="en-US" sz="10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181448" cy="3337560"/>
          </a:xfrm>
          <a:prstGeom prst="roundRect">
            <a:avLst>
              <a:gd name="adj" fmla="val 1644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005840" y="2057400"/>
            <a:ext cx="804672" cy="292608"/>
          </a:xfrm>
          <a:prstGeom prst="roundRect">
            <a:avLst>
              <a:gd name="adj" fmla="val 9375"/>
            </a:avLst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05740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奢華百匯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468880"/>
            <a:ext cx="463280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2–4 人 5 折，5–8 人 75 折</a:t>
            </a:r>
            <a:endParaRPr lang="en-US" sz="19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全台約 30 餘家五星飯店自助餐與咖啡廳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台北君悅 凱菲屋、士林萬麗 士林廚房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高雄萬豪 豪享自助餐廳、Cozzi THE Roof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漢來海港（巨蛋店、漢來店）、饗食天堂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278728" y="1828800"/>
            <a:ext cx="5181448" cy="3337560"/>
          </a:xfrm>
          <a:prstGeom prst="roundRect">
            <a:avLst>
              <a:gd name="adj" fmla="val 1644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553048" y="2057400"/>
            <a:ext cx="804672" cy="292608"/>
          </a:xfrm>
          <a:prstGeom prst="roundRect">
            <a:avLst>
              <a:gd name="adj" fmla="val 9375"/>
            </a:avLst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6553048" y="205740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頂級美饌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2468880"/>
            <a:ext cx="463280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滿千送千，單次折抵上限 NT$2,000</a:t>
            </a:r>
            <a:endParaRPr lang="en-US" sz="19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全台約 22 家鐵板燒、日料、牛排館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Restaurant A、Smith &amp; Wollensky、USHIO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高雄：Ukai-tei、漢來 焰鐵板燒、方蒔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名人坊（大巨蛋、漢神洲際等多店）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31520" y="5394960"/>
            <a:ext cx="10728655" cy="685800"/>
          </a:xfrm>
          <a:prstGeom prst="roundRect">
            <a:avLst>
              <a:gd name="adj" fmla="val 6667"/>
            </a:avLst>
          </a:prstGeom>
          <a:solidFill>
            <a:srgbClr val="1D3A66"/>
          </a:solidFill>
          <a:ln w="12700">
            <a:solidFill>
              <a:srgbClr val="1D3A6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539496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兩份名單均排除春節、情人節、母親節、聖誕節等節日，部分餐廳需提前 7–8 天訂位；實際名單以預約網站公告為準。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1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第二部分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渣打優先私人理財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渣打優先私人理財</a:t>
            </a:r>
            <a:r>
              <a:rPr lang="en-US" sz="10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07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459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超越自我成就，實現未來夢想。月平均往來資產達等值新台幣 3,000 萬元（含）以上，即為優先私人理財貴賓；1 億元以上再享頂緻禮遇。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2476424" cy="2103120"/>
          </a:xfrm>
          <a:prstGeom prst="roundRect">
            <a:avLst>
              <a:gd name="adj" fmla="val 2609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05840" y="3291840"/>
            <a:ext cx="457200" cy="457200"/>
          </a:xfrm>
          <a:prstGeom prst="ellipse">
            <a:avLst/>
          </a:prstGeom>
          <a:solidFill>
            <a:srgbClr val="C9A4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931920"/>
            <a:ext cx="1927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尊尚優先禮遇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生日禮、禮賓服務、年度貴賓禮遇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82264" y="3017520"/>
            <a:ext cx="2476424" cy="2103120"/>
          </a:xfrm>
          <a:prstGeom prst="roundRect">
            <a:avLst>
              <a:gd name="adj" fmla="val 2609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756584" y="3291840"/>
            <a:ext cx="457200" cy="457200"/>
          </a:xfrm>
          <a:prstGeom prst="ellipse">
            <a:avLst/>
          </a:prstGeom>
          <a:solidFill>
            <a:srgbClr val="C9A4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3756584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756584" y="3931920"/>
            <a:ext cx="1927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專屬優惠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手續費減免、換匯優惠、推薦好禮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33008" y="3017520"/>
            <a:ext cx="2476424" cy="2103120"/>
          </a:xfrm>
          <a:prstGeom prst="roundRect">
            <a:avLst>
              <a:gd name="adj" fmla="val 2609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6507328" y="3291840"/>
            <a:ext cx="457200" cy="457200"/>
          </a:xfrm>
          <a:prstGeom prst="ellipse">
            <a:avLst/>
          </a:prstGeom>
          <a:solidFill>
            <a:srgbClr val="C9A4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 txBox="1"/>
          <p:nvPr/>
        </p:nvSpPr>
        <p:spPr>
          <a:xfrm>
            <a:off x="6507328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3931920"/>
            <a:ext cx="1927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全球銀行服務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跨國貴賓身分、免費電匯、帳戶連結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983751" y="3017520"/>
            <a:ext cx="2476424" cy="2103120"/>
          </a:xfrm>
          <a:prstGeom prst="roundRect">
            <a:avLst>
              <a:gd name="adj" fmla="val 2609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9258071" y="3291840"/>
            <a:ext cx="457200" cy="457200"/>
          </a:xfrm>
          <a:prstGeom prst="ellipse">
            <a:avLst/>
          </a:prstGeom>
          <a:solidFill>
            <a:srgbClr val="C9A4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 txBox="1"/>
          <p:nvPr/>
        </p:nvSpPr>
        <p:spPr>
          <a:xfrm>
            <a:off x="9258071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58071" y="3931920"/>
            <a:ext cx="1927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財富管理與團隊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進階方案、專家諮詢、私人理財中心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1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優先私人理財 ｜ 尊尚優先禮遇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四大尊尚禮遇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渣打優先私人理財</a:t>
            </a:r>
            <a:r>
              <a:rPr lang="en-US" sz="10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181448" cy="1371600"/>
          </a:xfrm>
          <a:prstGeom prst="roundRect">
            <a:avLst>
              <a:gd name="adj" fmla="val 4000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1005840" y="1965960"/>
            <a:ext cx="4632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尊榮生日禮</a:t>
            </a:r>
            <a:endParaRPr lang="en-US" sz="19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為貴賓準備生日賀禮，多款精緻生日蛋糕任選，輕鬆宅配到府。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278728" y="1737360"/>
            <a:ext cx="5181448" cy="1371600"/>
          </a:xfrm>
          <a:prstGeom prst="roundRect">
            <a:avLst>
              <a:gd name="adj" fmla="val 4000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6553048" y="1965960"/>
            <a:ext cx="4632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全球禮賓服務</a:t>
            </a:r>
            <a:endParaRPr lang="en-US" sz="19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全球禮賓秘書服務 ｜ 專屬生活管家 ｜ 國內 VIP 門診醫療 ｜ 全球急難救助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3337560"/>
            <a:ext cx="5181448" cy="2788920"/>
          </a:xfrm>
          <a:prstGeom prst="roundRect">
            <a:avLst>
              <a:gd name="adj" fmla="val 1967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1005840" y="3566160"/>
            <a:ext cx="2203704" cy="292608"/>
          </a:xfrm>
          <a:prstGeom prst="roundRect">
            <a:avLst>
              <a:gd name="adj" fmla="val 9375"/>
            </a:avLst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566160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月均資產 3,000 萬+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77640"/>
            <a:ext cx="463280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貴賓禮遇 ｜ 出國／餐飲／交通 三擇一</a:t>
            </a:r>
            <a:endParaRPr lang="en-US" sz="17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出國：</a:t>
            </a:r>
            <a:r>
              <a:rPr lang="en-US" sz="1400" dirty="0">
                <a:solidFill>
                  <a:srgbClr val="FF0000"/>
                </a:solidFill>
                <a:highlight>
                  <a:srgbClr val="FFFF00"/>
                </a:highlight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機場接送 10 點 + 機場貴賓室無限次 + 國內禮遇通關 1 次</a:t>
            </a:r>
            <a:endParaRPr lang="en-US" sz="1700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餐飲：精選飯店／餐廳用餐或餐券，最高 4 客</a:t>
            </a:r>
            <a:endParaRPr lang="en-US" sz="17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交通：高鐵商務艙單程車票 4 張</a:t>
            </a:r>
            <a:endParaRPr lang="en-US" sz="17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15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機場接送需以權益點數兌換，最高可兌換 10 次。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78728" y="3337560"/>
            <a:ext cx="5181448" cy="2788920"/>
          </a:xfrm>
          <a:prstGeom prst="roundRect">
            <a:avLst>
              <a:gd name="adj" fmla="val 1967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6553048" y="3566160"/>
            <a:ext cx="1581912" cy="292608"/>
          </a:xfrm>
          <a:prstGeom prst="roundRect">
            <a:avLst>
              <a:gd name="adj" fmla="val 9375"/>
            </a:avLst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6553048" y="3566160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1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月均資產 1 億+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53048" y="3977640"/>
            <a:ext cx="463280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頂緻禮遇 ｜ 出國／餐飲 二擇一 + 交通</a:t>
            </a:r>
            <a:endParaRPr lang="en-US" sz="17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出國：機場接送 16 點 + 機場貴賓室無限次 + 國內禮遇通關 4 次</a:t>
            </a:r>
            <a:endParaRPr lang="en-US" sz="17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餐飲：精選飯店／餐廳用餐或餐券，最高 8 客</a:t>
            </a:r>
            <a:endParaRPr lang="en-US" sz="17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另享交通：高鐵商務艙單程車票 4 張</a:t>
            </a:r>
            <a:endParaRPr lang="en-US" sz="17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15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機場接送需以權益點數兌換，最高可兌換 16 次。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1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優先私人理財 ｜ 禮遇怎麼用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兌換方式與禮賓服務內容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渣打優先私人理財</a:t>
            </a:r>
            <a:r>
              <a:rPr lang="en-US" sz="10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393338" cy="2834640"/>
          </a:xfrm>
          <a:prstGeom prst="roundRect">
            <a:avLst>
              <a:gd name="adj" fmla="val 1935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1005840" y="2057400"/>
            <a:ext cx="284469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兌換時程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連續 3 個月符合資格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4 個月 20 日起開放兌換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透過尊尚優先禮遇網站預約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99178" y="1828800"/>
            <a:ext cx="3393338" cy="2834640"/>
          </a:xfrm>
          <a:prstGeom prst="roundRect">
            <a:avLst>
              <a:gd name="adj" fmla="val 1935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4673498" y="2057400"/>
            <a:ext cx="284469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機場接送點數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每趟至少扣抵 1 點，依國家與機場不同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例：16 點可換桃園接送 16 次，或新加坡樟宜 8 次，或洛杉磯 5 次 + 桃園 1 次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066837" y="1828800"/>
            <a:ext cx="3393338" cy="2834640"/>
          </a:xfrm>
          <a:prstGeom prst="roundRect">
            <a:avLst>
              <a:gd name="adj" fmla="val 1935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8341157" y="2057400"/>
            <a:ext cx="284469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機場貴賓室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提供龍騰貴賓室點數卡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年度內可無限次申請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每次可免費攜伴 2 位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31520" y="4937760"/>
            <a:ext cx="10728655" cy="914400"/>
          </a:xfrm>
          <a:prstGeom prst="roundRect">
            <a:avLst>
              <a:gd name="adj" fmla="val 5000"/>
            </a:avLst>
          </a:prstGeom>
          <a:solidFill>
            <a:srgbClr val="1D3A66"/>
          </a:solidFill>
          <a:ln w="12700">
            <a:solidFill>
              <a:srgbClr val="1D3A6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1005840" y="493776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全球禮賓秘書可協助海內外飯店住宿與美饌預訂、旅遊資訊諮詢與安排、全球娛樂活動購票等。涉及第三方的服務費用由貴賓自行支付。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1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優先私人理財 ｜ 專屬優惠及活動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日常往來也有感的優惠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渣打優先私人理財</a:t>
            </a:r>
            <a:r>
              <a:rPr lang="en-US" sz="10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181448" cy="4206240"/>
          </a:xfrm>
          <a:prstGeom prst="roundRect">
            <a:avLst>
              <a:gd name="adj" fmla="val 1304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1005840" y="2057400"/>
            <a:ext cx="463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網路／行動銀行換匯</a:t>
            </a:r>
            <a:endParaRPr lang="en-US" sz="1900" dirty="0"/>
          </a:p>
          <a:p>
            <a:pPr marL="0" indent="0">
              <a:buNone/>
            </a:pPr>
            <a:r>
              <a:rPr lang="en-US" sz="120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年度牌告匯率優惠</a:t>
            </a:r>
            <a:endParaRPr lang="en-US" sz="1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2880360"/>
          <a:ext cx="4632808" cy="2743200"/>
        </p:xfrm>
        <a:graphic>
          <a:graphicData uri="http://schemas.openxmlformats.org/drawingml/2006/table">
            <a:tbl>
              <a:tblPr/>
              <a:tblGrid>
                <a:gridCol w="2779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3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4EE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美元／台幣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C9A4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 分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4EE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歐元／台幣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C9A4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分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4EE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英鎊／台幣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C9A4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分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4EE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澳幣／台幣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C9A4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2.5 分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4EE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日圓／台幣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C9A4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0.03 分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278728" y="1828800"/>
            <a:ext cx="5181448" cy="4206240"/>
          </a:xfrm>
          <a:prstGeom prst="roundRect">
            <a:avLst>
              <a:gd name="adj" fmla="val 1304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 txBox="1"/>
          <p:nvPr/>
        </p:nvSpPr>
        <p:spPr>
          <a:xfrm>
            <a:off x="6553048" y="2057400"/>
            <a:ext cx="4632808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臨櫃交易手續費減免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3,000 萬+：每月 10 次任選項目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億+：每月 20 次任選項目</a:t>
            </a:r>
            <a:endParaRPr lang="en-US" sz="1900" dirty="0"/>
          </a:p>
        </p:txBody>
      </p:sp>
      <p:sp>
        <p:nvSpPr>
          <p:cNvPr id="8" name="Text 8"/>
          <p:cNvSpPr txBox="1"/>
          <p:nvPr/>
        </p:nvSpPr>
        <p:spPr>
          <a:xfrm>
            <a:off x="6553048" y="3246120"/>
            <a:ext cx="46328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推薦好禮</a:t>
            </a:r>
            <a:endParaRPr lang="en-US" sz="19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成功推薦 1 位親友成為全新優先私人理財貴賓，最高享 NT$50,000 遠東 SOGO 商品禮券</a:t>
            </a:r>
            <a:endParaRPr lang="en-US" sz="19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Beyond 世界之極卡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貴賓專屬邀請申辦，權益詳見前段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1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優先私人理財 ｜ 全球銀行服務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一個身分，連結全球渣打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渣打優先私人理財</a:t>
            </a:r>
            <a:r>
              <a:rPr lang="en-US" sz="10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393338" cy="3017520"/>
          </a:xfrm>
          <a:prstGeom prst="roundRect">
            <a:avLst>
              <a:gd name="adj" fmla="val 1818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1005840" y="2057400"/>
            <a:ext cx="284469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全球尊榮禮遇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台灣貴賓身分可申請延伸至其他渣打據點，享當地貴賓禮遇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境外渣打帳戶管理費免除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99178" y="1828800"/>
            <a:ext cx="3393338" cy="3017520"/>
          </a:xfrm>
          <a:prstGeom prst="roundRect">
            <a:avLst>
              <a:gd name="adj" fmla="val 1818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4673498" y="2057400"/>
            <a:ext cx="284469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免費全球資金電匯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匯款至海外任一銀行，免費全額到匯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網銀／行動銀行匯至海外渣打集團，手續費與郵電費 0 元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國外一般匯入款免手續費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066837" y="1828800"/>
            <a:ext cx="3393338" cy="3017520"/>
          </a:xfrm>
          <a:prstGeom prst="roundRect">
            <a:avLst>
              <a:gd name="adj" fmla="val 1818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8341157" y="2057400"/>
            <a:ext cx="284469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全球帳戶連結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於渣打台灣網銀綜覽香港、中國、新加坡等地存款餘額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可進行約定與非約定資金轉帳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31520" y="5120640"/>
            <a:ext cx="10728655" cy="731520"/>
          </a:xfrm>
          <a:prstGeom prst="roundRect">
            <a:avLst>
              <a:gd name="adj" fmla="val 6250"/>
            </a:avLst>
          </a:prstGeom>
          <a:solidFill>
            <a:srgbClr val="1D3A66"/>
          </a:solidFill>
          <a:ln w="12700">
            <a:solidFill>
              <a:srgbClr val="1D3A6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1005840" y="5120640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國際金融業務（OBU）個人投資公司亦可使用行動銀行 App，查看即時資產總覽並使用 myRM 線上服務。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1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優先私人理財 ｜ 進階財富管理與菁英團隊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更完整的投資工具與諮詢團隊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渣打優先私人理財</a:t>
            </a:r>
            <a:r>
              <a:rPr lang="en-US" sz="10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181448" cy="4206240"/>
          </a:xfrm>
          <a:prstGeom prst="roundRect">
            <a:avLst>
              <a:gd name="adj" fmla="val 1304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1005840" y="2057400"/>
            <a:ext cx="4632808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進階財富管理方案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財富融資：投資質押貸款、保費融資、金融資產組合融資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另類基金：私募股權、私募信貸等非傳統資產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渣打 VCC 基金系列：透過 SC Funds VCC 引進私募基金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結構型商品：可客製連結標的與報酬型態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精選 CIO 基金系列：依集團首席投資辦公室觀點挑選</a:t>
            </a:r>
            <a:endParaRPr lang="en-US" sz="19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15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保費融資、金融資產組合融資、另類基金僅限渣打資產管理專區客戶。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278728" y="1828800"/>
            <a:ext cx="5181448" cy="4206240"/>
          </a:xfrm>
          <a:prstGeom prst="roundRect">
            <a:avLst>
              <a:gd name="adj" fmla="val 1304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6553048" y="2057400"/>
            <a:ext cx="4632808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菁英團隊專業諮詢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全方位專家團隊：投資、保險、市場研究，經 INSEAD 培訓認證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 Wealth Select：以投資組合為主導的結構化諮詢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myWealth Advisor：整合 CIO 觀點，模擬與追蹤專屬投組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myRM 數位隨行理專：線上諮詢並完成基金、股票／ETF、債券、境外結構型商品、定存交易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1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優先私人理財 ｜ 國際私人理財中心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三大私人理財中心，專屬空間接待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渣打優先私人理財</a:t>
            </a:r>
            <a:r>
              <a:rPr lang="en-US" sz="10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393338" cy="2560320"/>
          </a:xfrm>
          <a:prstGeom prst="roundRect">
            <a:avLst>
              <a:gd name="adj" fmla="val 2143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1005840" y="2103120"/>
            <a:ext cx="284469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台北 松高分行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台北市信義區松高路 77 號 46 樓之 1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02-6602-7600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99178" y="1828800"/>
            <a:ext cx="3393338" cy="2560320"/>
          </a:xfrm>
          <a:prstGeom prst="roundRect">
            <a:avLst>
              <a:gd name="adj" fmla="val 2143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4673498" y="2103120"/>
            <a:ext cx="284469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台北 天母分行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台北市士林區中山北路六段 91 號 1 樓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02-6602-7636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66837" y="1828800"/>
            <a:ext cx="3393338" cy="2560320"/>
          </a:xfrm>
          <a:prstGeom prst="roundRect">
            <a:avLst>
              <a:gd name="adj" fmla="val 2143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8341157" y="2103120"/>
            <a:ext cx="284469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台中 市政分行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台中市西屯區市政路 535 號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04-3601-2800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4754880"/>
            <a:ext cx="10728655" cy="731520"/>
          </a:xfrm>
          <a:prstGeom prst="roundRect">
            <a:avLst>
              <a:gd name="adj" fmla="val 6250"/>
            </a:avLst>
          </a:prstGeom>
          <a:solidFill>
            <a:srgbClr val="1D3A66"/>
          </a:solidFill>
          <a:ln w="12700">
            <a:solidFill>
              <a:srgbClr val="1D3A6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1005840" y="4754880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優先私人理財客戶服務專線：0809-001818 ／ 02-6603-2858，或洽詢您的專屬客戶關係經理。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1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一頁對照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200" b="1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私人銀行貴賓權益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卡片權益 + 私銀權益</a:t>
            </a:r>
            <a:r>
              <a:rPr lang="en-US" sz="10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728655" cy="3968496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F2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4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F2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3,000 萬+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4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F213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億+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4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A9B6C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國內一般消費回饋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4EE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1%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E4CE9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1.25%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A9B6C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亞洲線機票升等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4EE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年 2 張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E4CE9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年 4 張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A9B6C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卡片國內禮遇通關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4EE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E4CE9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年 2 次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A9B6C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私銀尊尚禮遇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4EE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貴賓禮遇 三擇一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E4CE9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頂緻禮遇 二擇一 + 高鐵 4 張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A9B6C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私銀機場接送點數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4EE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點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E4CE9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 點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A9B6C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臨櫃手續費減免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4EE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每月 10 次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E4CE9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每月 20 次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E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使用前請留意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禮遇皆採動態資格檢核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6355080"/>
            <a:ext cx="10728655" cy="0"/>
          </a:xfrm>
          <a:prstGeom prst="line">
            <a:avLst/>
          </a:prstGeom>
          <a:noFill/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資料截至 2026 年 9 月</a:t>
            </a:r>
            <a:r>
              <a:rPr lang="en-US" sz="10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181448" cy="1920240"/>
          </a:xfrm>
          <a:prstGeom prst="roundRect">
            <a:avLst>
              <a:gd name="adj" fmla="val 2857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1005840" y="1965960"/>
            <a:ext cx="46328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資格與次數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資產未維持門檻，卡片與私銀禮遇可能取消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次數皆為年度制，未用完不遞延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年費次年減免辦法請洽客戶關係經理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278728" y="1737360"/>
            <a:ext cx="5181448" cy="1920240"/>
          </a:xfrm>
          <a:prstGeom prst="roundRect">
            <a:avLst>
              <a:gd name="adj" fmla="val 2857"/>
            </a:avLst>
          </a:prstGeom>
          <a:solidFill>
            <a:srgbClr val="172E54"/>
          </a:solidFill>
          <a:ln w="9525">
            <a:solidFill>
              <a:srgbClr val="4A5A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6553048" y="1965960"/>
            <a:ext cx="46328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E4CE9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使用限制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機票升等限長榮／華航亞洲線與指定票價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餐飲優惠排除特定節日，需提前訂位</a:t>
            </a:r>
            <a:endParaRPr lang="en-US" sz="1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回饋加碼每季上限 NT$10,000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3886200"/>
            <a:ext cx="10728655" cy="1097280"/>
          </a:xfrm>
          <a:prstGeom prst="rect">
            <a:avLst/>
          </a:prstGeom>
          <a:solidFill>
            <a:srgbClr val="0A1830"/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38862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謹慎理財 信用至上　</a:t>
            </a:r>
            <a:r>
              <a:rPr lang="en-US" sz="1250" dirty="0">
                <a:solidFill>
                  <a:srgbClr val="F4EE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一般消費及預借現金循環利率 7.9%～15%（基準日 2026/8/2）；預借現金手續費為預借金額 × 3.5% + NT$100。分期每期手續費 0 元，分期利率 0%～15%，總費用年百分率 0%～15%。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21208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6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本簡報整理自渣打銀行官網及公開資訊，僅供參考；各項權益、名單與條件以渣打銀行最新公告為準，本行保留變更或終止之權利。投資具風險，理財產品非存款，不受存款保險保障。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974</Words>
  <Application>Microsoft Office PowerPoint</Application>
  <PresentationFormat>寬螢幕</PresentationFormat>
  <Paragraphs>245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Microsoft JhengHei</vt:lpstr>
      <vt:lpstr>Arial</vt:lpstr>
      <vt:lpstr>Cambria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渣打Beyond世界之極卡 × 優先私人理財貴賓權益</dc:title>
  <dc:subject>PptxGenJS Presentation</dc:subject>
  <dc:creator>PptxGenJS</dc:creator>
  <cp:lastModifiedBy>HA297372@365mmt.com</cp:lastModifiedBy>
  <cp:revision>2</cp:revision>
  <dcterms:created xsi:type="dcterms:W3CDTF">2026-09-22T02:15:44Z</dcterms:created>
  <dcterms:modified xsi:type="dcterms:W3CDTF">2026-09-22T02:41:26Z</dcterms:modified>
</cp:coreProperties>
</file>